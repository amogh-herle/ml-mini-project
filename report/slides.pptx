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8FB4FF"/>
                </a:solidFill>
                <a:latin typeface="Arial"/>
              </a:rPr>
              <a:t>UE24CS352A — MACHINE LEARNING MINI-PROJECT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850392" y="1371600"/>
            <a:ext cx="1463040" cy="64008"/>
          </a:xfrm>
          <a:prstGeom prst="rect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FBFBF8"/>
                </a:solidFill>
                <a:latin typeface="Arial"/>
              </a:rPr>
              <a:t>Classification of Legal 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C7D4EA"/>
                </a:solidFill>
                <a:latin typeface="Arial"/>
              </a:rPr>
              <a:t>Replicating &amp; tuning a Stanford CS229 NLP project — teaching a classifier to read U.S. Supreme Court opinions and guess their legal category.</a:t>
            </a:r>
          </a:p>
        </p:txBody>
      </p:sp>
      <p:sp>
        <p:nvSpPr>
          <p:cNvPr id="7" name="Oval 6"/>
          <p:cNvSpPr/>
          <p:nvPr/>
        </p:nvSpPr>
        <p:spPr>
          <a:xfrm>
            <a:off x="10012680" y="502920"/>
            <a:ext cx="1371600" cy="1371600"/>
          </a:xfrm>
          <a:prstGeom prst="ellipse">
            <a:avLst/>
          </a:prstGeom>
          <a:solidFill>
            <a:srgbClr val="1C3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8FB4FF"/>
                </a:solidFill>
                <a:latin typeface="Arial"/>
              </a:rPr>
              <a:t>68.8%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12680" y="1965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6E85AD"/>
                </a:solidFill>
                <a:latin typeface="Arial"/>
              </a:rPr>
              <a:t>best test acc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09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E85AD"/>
                </a:solidFill>
                <a:latin typeface="Arial"/>
              </a:rPr>
              <a:t>Based on: Krithika Iyer, "Classification of Legal Text" (CS229, 2020)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A5CAA"/>
                </a:solidFill>
                <a:latin typeface="Arial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A1A1A"/>
                </a:solidFill>
                <a:latin typeface="Arial"/>
              </a:rPr>
              <a:t>Can a simple model guess a court ruling's legal category?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A5568"/>
                </a:solidFill>
                <a:latin typeface="Arial"/>
              </a:rPr>
              <a:t>Legal opinions use long, non-standard sentence structures that break typical NLP tooling. We classify U.S. Supreme Court opinions into their human-curated legal category — at two levels of detail.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063240"/>
            <a:ext cx="4937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15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Broad categories (issue_area) — e.g. Criminal Procedure, Civil Rights, First Amendment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4937760" cy="54864"/>
          </a:xfrm>
          <a:prstGeom prst="rect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0" y="3063240"/>
            <a:ext cx="4937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260+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Fine-grained issue codes (issue) — much harder, far less data per category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3063240"/>
            <a:ext cx="4937760" cy="54864"/>
          </a:xfrm>
          <a:prstGeom prst="rect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A7179"/>
                </a:solidFill>
                <a:latin typeface="Arial"/>
              </a:rPr>
              <a:t>1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A5CAA"/>
                </a:solidFill>
                <a:latin typeface="Arial"/>
              </a:rPr>
              <a:t>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A1A1A"/>
                </a:solidFill>
                <a:latin typeface="Arial"/>
              </a:rPr>
              <a:t>Real Supreme Court opinions — no substitute needed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10241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A5568"/>
                </a:solidFill>
                <a:latin typeface="Arial"/>
              </a:rPr>
              <a:t>Same source the original paper used: the Supreme Court Database via the textacy package. Still downloadable today.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423160"/>
            <a:ext cx="32918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8,419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opinions, 1946-2016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3291840" cy="54864"/>
          </a:xfrm>
          <a:prstGeom prst="rect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3400" y="2423160"/>
            <a:ext cx="32918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7,971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after filtering rare classes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2423160"/>
            <a:ext cx="3291840" cy="54864"/>
          </a:xfrm>
          <a:prstGeom prst="rect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2423160"/>
            <a:ext cx="34747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70/15/15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train / dev / test split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63840" y="2423160"/>
            <a:ext cx="3474720" cy="54864"/>
          </a:xfrm>
          <a:prstGeom prst="rect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20624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6A7179"/>
                </a:solidFill>
                <a:latin typeface="Arial"/>
              </a:rPr>
              <a:t>Opinions run long (median ~34,000 characters) — each truncated to its first 4,000 characters so training stays fast, keeping the part where judges usually state the issue and holding.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A7179"/>
                </a:solidFill>
                <a:latin typeface="Arial"/>
              </a:rPr>
              <a:t>2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A5CAA"/>
                </a:solidFill>
                <a:latin typeface="Arial"/>
              </a:rPr>
              <a:t>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A1A1A"/>
                </a:solidFill>
                <a:latin typeface="Arial"/>
              </a:rPr>
              <a:t>Two ways to featurize legal text, one classifier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502920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LDA + Logistic Regression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Finds abstract recurring topics across all rulings (gensim, TF-IDF). Each ruling becomes a mix-of-topics score. A classifier maps topic mix → category.
Tuned: 100 topics (vs. 50 default)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828800"/>
            <a:ext cx="5029200" cy="54864"/>
          </a:xfrm>
          <a:prstGeom prst="rect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35040" y="1828800"/>
            <a:ext cx="512064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Doc2Vec + Logistic Regression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Learns a dense numeric “fingerprint” per ruling by predicting words in context (gensim Doc2Vec). Same classifier maps fingerprint → category.
Tuned: 50-dim vectors (vs. 100 default)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0" y="1828800"/>
            <a:ext cx="5120640" cy="54864"/>
          </a:xfrm>
          <a:prstGeom prst="rect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07492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A7179"/>
                </a:solidFill>
                <a:latin typeface="Arial"/>
              </a:rPr>
              <a:t>A third method (BERT) was in the original paper, but it ran out of memory there — no baseline to replicate.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A7179"/>
                </a:solidFill>
                <a:latin typeface="Arial"/>
              </a:rPr>
              <a:t>3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A5CAA"/>
                </a:solidFill>
                <a:latin typeface="Arial"/>
              </a:rPr>
              <a:t>PHASE 1 — REPLICATION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1A1A1A"/>
                </a:solidFill>
                <a:latin typeface="Arial"/>
              </a:rPr>
              <a:t>Paper's default settings, our dataset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600200"/>
          <a:ext cx="50292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463040"/>
                <a:gridCol w="960120"/>
                <a:gridCol w="86868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Test Acc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F1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lda_lr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issue_area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39.3%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0.149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lda_lr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issue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8.3%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0.013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doc2vec_lr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issue_area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59.1%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0.463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doc2vec_lr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issue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37.1%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0.290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416052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5568"/>
                </a:solidFill>
                <a:latin typeface="Arial"/>
              </a:rPr>
              <a:t>Doc2Vec beats LDA on both tasks. The coarser 15-category task is much easier than the 260+-category task — matches the original paper's pattern.</a:t>
            </a:r>
          </a:p>
        </p:txBody>
      </p:sp>
      <p:pic>
        <p:nvPicPr>
          <p:cNvPr id="7" name="Picture 6" descr="phase1_test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00200"/>
            <a:ext cx="5212080" cy="2895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A7179"/>
                </a:solidFill>
                <a:latin typeface="Arial"/>
              </a:rPr>
              <a:t>4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A5CAA"/>
                </a:solidFill>
                <a:latin typeface="Arial"/>
              </a:rPr>
              <a:t>PHASE 2 — HYPERPARAMETER 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1A1A1A"/>
                </a:solidFill>
                <a:latin typeface="Arial"/>
              </a:rPr>
              <a:t>Dev-only tuning, test touched once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005840"/>
                <a:gridCol w="1188720"/>
                <a:gridCol w="118872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Model + Task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Param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Before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After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lda — issue_area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topics=100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39.3%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48.7%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lda — issue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topics=100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8.3%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19.9%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doc2vec — issue_area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dim=50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59.1%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62.2%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doc2vec — issue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dim=50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37.1%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42.0%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4160520"/>
            <a:ext cx="5394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5568"/>
                </a:solidFill>
                <a:latin typeface="Arial"/>
              </a:rPr>
              <a:t>LDA needed more topics (50→100) to separate 15+ categories. Doc2Vec preferred a smaller fingerprint (100→50) — with only ~5,600 training rulings, bigger vectors just overfit.</a:t>
            </a:r>
          </a:p>
        </p:txBody>
      </p:sp>
      <p:pic>
        <p:nvPicPr>
          <p:cNvPr id="7" name="Picture 6" descr="before_after_tu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600200"/>
            <a:ext cx="4663440" cy="2590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A7179"/>
                </a:solidFill>
                <a:latin typeface="Arial"/>
              </a:rPr>
              <a:t>5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A5CAA"/>
                </a:solidFill>
                <a:latin typeface="Arial"/>
              </a:rPr>
              <a:t>PHASE 3 — BEYOND THE PAPER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1A1A1A"/>
                </a:solidFill>
                <a:latin typeface="Arial"/>
              </a:rPr>
              <a:t>Same features, different classifier on 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5568"/>
                </a:solidFill>
                <a:latin typeface="Arial"/>
              </a:rPr>
              <a:t>The paper only tries Logistic Regression. We also tried SVM, Random Forest, and Gaussian Naive Bayes — same Doc2Vec fingerprints, issue_area task.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377440"/>
          <a:ext cx="49377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280160"/>
                <a:gridCol w="128016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Classifier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Test Acc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F1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7A3D"/>
                          </a:solidFill>
                          <a:latin typeface="Arial"/>
                        </a:rPr>
                        <a:t>SVM (RBF)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7A3D"/>
                          </a:solidFill>
                          <a:latin typeface="Arial"/>
                        </a:rPr>
                        <a:t>68.8%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7A3D"/>
                          </a:solidFill>
                          <a:latin typeface="Arial"/>
                        </a:rPr>
                        <a:t>0.499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Logistic Regression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62.2%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0.477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Random Forest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59.6%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0.317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Gaussian Naive Bayes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58.7%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0.462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452628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A7179"/>
                </a:solidFill>
                <a:latin typeface="Arial"/>
              </a:rPr>
              <a:t>SVM (RBF, C=1.0), Random Forest (200 trees) and Naive Bayes use defaults, untuned; LR (C=1.0) is the tuned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12064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5568"/>
                </a:solidFill>
                <a:latin typeface="Arial"/>
              </a:rPr>
              <a:t>SVM wins — its RBF kernel draws a curved decision boundary through the embedding space that straight-line Logistic Regression can't match.</a:t>
            </a:r>
          </a:p>
        </p:txBody>
      </p:sp>
      <p:pic>
        <p:nvPicPr>
          <p:cNvPr id="9" name="Picture 8" descr="classifie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00200"/>
            <a:ext cx="5394960" cy="29672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A7179"/>
                </a:solidFill>
                <a:latin typeface="Arial"/>
              </a:rPr>
              <a:t>6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A5CAA"/>
                </a:solidFill>
                <a:latin typeface="Arial"/>
              </a:rPr>
              <a:t>A CLOSER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1A1A1A"/>
                </a:solidFill>
                <a:latin typeface="Arial"/>
              </a:rPr>
              <a:t>LDA guesses the majority class. Doc2Vec doesn't.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50292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228600"/>
          <a:lstStyle/>
          <a:p>
            <a:pPr algn="ctr"/>
            <a:r>
              <a:rPr sz="2000" b="1">
                <a:solidFill>
                  <a:srgbClr val="B3261E"/>
                </a:solidFill>
                <a:latin typeface="Arial"/>
              </a:rPr>
              <a:t>LDA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Macro-F1 (0.267) trails accuracy (48.7%) badly — it defaults to the two biggest categories (Criminal Procedure, Economic Activity) and misses rare ones almost entirely (Privacy, Attorneys, Interstate Relations: near 0 recall).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828800"/>
            <a:ext cx="5029200" cy="54864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35040" y="1828800"/>
            <a:ext cx="51206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228600"/>
          <a:lstStyle/>
          <a:p>
            <a:pPr algn="ctr"/>
            <a:r>
              <a:rPr sz="2000" b="1">
                <a:solidFill>
                  <a:srgbClr val="1E7A3D"/>
                </a:solidFill>
                <a:latin typeface="Arial"/>
              </a:rPr>
              <a:t>Doc2Vec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Far more balanced — still finds minority categories like Privacy (F1 0.26) and Attorneys (F1 0.31) that LDA completely misses, because it reads context, not just word counts.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0" y="1828800"/>
            <a:ext cx="5120640" cy="54864"/>
          </a:xfrm>
          <a:prstGeom prst="rect">
            <a:avLst/>
          </a:prstGeom>
          <a:solidFill>
            <a:srgbClr val="1E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16636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A7179"/>
                </a:solidFill>
                <a:latin typeface="Arial"/>
              </a:rPr>
              <a:t>Same pattern the original paper reports on its own category breakdown.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A7179"/>
                </a:solidFill>
                <a:latin typeface="Arial"/>
              </a:rPr>
              <a:t>7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8FB4FF"/>
                </a:solidFill>
                <a:latin typeface="Arial"/>
              </a:rPr>
              <a:t>CONCLUSIONS</a:t>
            </a:r>
          </a:p>
        </p:txBody>
      </p:sp>
      <p:sp>
        <p:nvSpPr>
          <p:cNvPr id="4" name="Oval 3"/>
          <p:cNvSpPr/>
          <p:nvPr/>
        </p:nvSpPr>
        <p:spPr>
          <a:xfrm>
            <a:off x="822960" y="1463040"/>
            <a:ext cx="292608" cy="292608"/>
          </a:xfrm>
          <a:prstGeom prst="ellipse">
            <a:avLst/>
          </a:prstGeom>
          <a:solidFill>
            <a:srgbClr val="8F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435608"/>
            <a:ext cx="9784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E3E9F5"/>
                </a:solidFill>
                <a:latin typeface="Arial"/>
              </a:rPr>
              <a:t>Doc2Vec embeddings consistently beat LDA topic features on this task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029968"/>
            <a:ext cx="292608" cy="292608"/>
          </a:xfrm>
          <a:prstGeom prst="ellipse">
            <a:avLst/>
          </a:prstGeom>
          <a:solidFill>
            <a:srgbClr val="8F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002536"/>
            <a:ext cx="9784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E3E9F5"/>
                </a:solidFill>
                <a:latin typeface="Arial"/>
              </a:rPr>
              <a:t>Coarse 15-category task is much easier than the 260+-category one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2596896"/>
            <a:ext cx="292608" cy="292608"/>
          </a:xfrm>
          <a:prstGeom prst="ellipse">
            <a:avLst/>
          </a:prstGeom>
          <a:solidFill>
            <a:srgbClr val="8F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569464"/>
            <a:ext cx="9784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E3E9F5"/>
                </a:solidFill>
                <a:latin typeface="Arial"/>
              </a:rPr>
              <a:t>Tuning hyperparameters gave real gains everywhere (not just marginal)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3163824"/>
            <a:ext cx="292608" cy="292608"/>
          </a:xfrm>
          <a:prstGeom prst="ellipse">
            <a:avLst/>
          </a:prstGeom>
          <a:solidFill>
            <a:srgbClr val="8F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136392"/>
            <a:ext cx="9784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E3E9F5"/>
                </a:solidFill>
                <a:latin typeface="Arial"/>
              </a:rPr>
              <a:t>SVM beat every classifier on Doc2Vec issue_area (on LDA ~level with LR: 49.1 vs 48.7%)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3730752"/>
            <a:ext cx="292608" cy="292608"/>
          </a:xfrm>
          <a:prstGeom prst="ellipse">
            <a:avLst/>
          </a:prstGeom>
          <a:solidFill>
            <a:srgbClr val="8F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703320"/>
            <a:ext cx="9784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E3E9F5"/>
                </a:solidFill>
                <a:latin typeface="Arial"/>
              </a:rPr>
              <a:t>Our numbers land in the same range and order as the original paper's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4297680"/>
            <a:ext cx="292608" cy="292608"/>
          </a:xfrm>
          <a:prstGeom prst="ellipse">
            <a:avLst/>
          </a:prstGeom>
          <a:solidFill>
            <a:srgbClr val="8F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270248"/>
            <a:ext cx="9784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E3E9F5"/>
                </a:solidFill>
                <a:latin typeface="Arial"/>
              </a:rPr>
              <a:t>BERT not replicated — paper's own attempt ran out of memory, no baseline to match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3093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8FB4FF"/>
                </a:solidFill>
                <a:latin typeface="Arial"/>
              </a:rPr>
              <a:t>github.com/amogh-herle/ML-MINI-PROJECT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3093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E85AD"/>
                </a:solidFill>
                <a:latin typeface="Arial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