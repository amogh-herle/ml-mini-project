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8229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500" b="1" i="0">
                <a:solidFill>
                  <a:srgbClr val="8FB4FF"/>
                </a:solidFill>
                <a:latin typeface="Arial"/>
              </a:rPr>
              <a:t>UE24CS352A — MACHINE LEARNING MINI-PROJECT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850392" y="1371600"/>
            <a:ext cx="1463040" cy="64008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508760"/>
            <a:ext cx="10058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 i="0">
                <a:solidFill>
                  <a:srgbClr val="FBFBF8"/>
                </a:solidFill>
                <a:latin typeface="Arial"/>
              </a:rPr>
              <a:t>Classification of Legal Text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 i="0">
                <a:solidFill>
                  <a:srgbClr val="C7D4EA"/>
                </a:solidFill>
                <a:latin typeface="Arial"/>
              </a:rPr>
              <a:t>Replicating &amp; tuning a Stanford CS229 NLP project — teaching a classifier to read U.S. Supreme Court opinions and guess their legal category.</a:t>
            </a:r>
          </a:p>
        </p:txBody>
      </p:sp>
      <p:sp>
        <p:nvSpPr>
          <p:cNvPr id="7" name="Oval 6"/>
          <p:cNvSpPr/>
          <p:nvPr/>
        </p:nvSpPr>
        <p:spPr>
          <a:xfrm>
            <a:off x="10012680" y="502920"/>
            <a:ext cx="1371600" cy="1371600"/>
          </a:xfrm>
          <a:prstGeom prst="ellipse">
            <a:avLst/>
          </a:prstGeom>
          <a:solidFill>
            <a:srgbClr val="1C30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8FB4FF"/>
                </a:solidFill>
                <a:latin typeface="Arial"/>
              </a:rPr>
              <a:t>68.8%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12680" y="1965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0000"/>
              </a:lnSpc>
            </a:pPr>
            <a:r>
              <a:rPr sz="1000" b="0" i="0">
                <a:solidFill>
                  <a:srgbClr val="6E85AD"/>
                </a:solidFill>
                <a:latin typeface="Arial"/>
              </a:rPr>
              <a:t>best test acc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0936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Based on: Krithika Iyer, "Classification of Legal Text" (CS229, 2020)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Can a simple model guess a court ruling's legal category?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10241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Legal opinions use long, non-standard sentence structures that break typical NLP tooling. We classify U.S. Supreme Court opinions into their human-curated legal category — at two levels of detail.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063240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Broad categories (issue_area) — e.g. Criminal Procedure, Civil Rights, First Amendment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063240"/>
            <a:ext cx="493776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943600" y="3063240"/>
            <a:ext cx="493776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260+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Fine-grained issue codes (issue) — much harder, far less data per category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3063240"/>
            <a:ext cx="493776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1 / 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DATASET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Real Supreme Court opinions — no substitute needed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00200"/>
            <a:ext cx="102412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4A5568"/>
                </a:solidFill>
                <a:latin typeface="Arial"/>
              </a:rPr>
              <a:t>Same source the original paper used: the Supreme Court Database via the textacy package. Still downloadable today.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423160"/>
            <a:ext cx="32918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8,419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opinions, 1946-2016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329184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43400" y="2423160"/>
            <a:ext cx="329184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7,971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after filtering rare classes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343400" y="2423160"/>
            <a:ext cx="329184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863840" y="2423160"/>
            <a:ext cx="347472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70/15/15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train / dev / test split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63840" y="2423160"/>
            <a:ext cx="347472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420624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6A7179"/>
                </a:solidFill>
                <a:latin typeface="Arial"/>
              </a:rPr>
              <a:t>Opinions run long (median ~34,000 characters) — each truncated to its first 4,000 characters so training stays fast, keeping the part where judges usually state the issue and holding.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2 /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Two ways to featurize legal text, one classifier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828800"/>
            <a:ext cx="502920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LDA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Finds abstract recurring topics across all rulings (gensim, TF-IDF). Each ruling becomes a mix-of-topics score. A classifier maps topic mix → category.
Tuned: 100 topics (vs. 50 default)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1828800"/>
            <a:ext cx="502920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200" b="1">
                <a:solidFill>
                  <a:srgbClr val="FBFBF8"/>
                </a:solidFill>
                <a:latin typeface="Arial"/>
              </a:rPr>
              <a:t>Σ</a:t>
            </a:r>
          </a:p>
        </p:txBody>
      </p:sp>
      <p:sp>
        <p:nvSpPr>
          <p:cNvPr id="8" name="Rectangle 7"/>
          <p:cNvSpPr/>
          <p:nvPr/>
        </p:nvSpPr>
        <p:spPr>
          <a:xfrm>
            <a:off x="6035040" y="1828800"/>
            <a:ext cx="512064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E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rIns="274320" tIns="228600" bIns="228600"/>
          <a:lstStyle/>
          <a:p>
            <a:pPr algn="ctr"/>
            <a:r>
              <a:rPr sz="2000" b="1">
                <a:solidFill>
                  <a:srgbClr val="2A5CAA"/>
                </a:solidFill>
                <a:latin typeface="Arial"/>
              </a:rPr>
              <a:t>Doc2Vec + Logistic Regression</a:t>
            </a:r>
          </a:p>
          <a:p>
            <a:pPr>
              <a:lnSpc>
                <a:spcPct val="115000"/>
              </a:lnSpc>
              <a:spcBef>
                <a:spcPts val="800"/>
              </a:spcBef>
            </a:pPr>
            <a:r>
              <a:rPr sz="1400">
                <a:solidFill>
                  <a:srgbClr val="4A5568"/>
                </a:solidFill>
                <a:latin typeface="Arial"/>
              </a:rPr>
              <a:t>Learns a dense numeric “fingerprint” per ruling by predicting words in context (gensim Doc2Vec). Same classifier maps fingerprint → category.
Tuned: 50-dim vectors (vs. 100 default)</a:t>
            </a:r>
          </a:p>
        </p:txBody>
      </p:sp>
      <p:sp>
        <p:nvSpPr>
          <p:cNvPr id="9" name="Rectangle 8"/>
          <p:cNvSpPr/>
          <p:nvPr/>
        </p:nvSpPr>
        <p:spPr>
          <a:xfrm>
            <a:off x="6035040" y="1828800"/>
            <a:ext cx="5120640" cy="54864"/>
          </a:xfrm>
          <a:prstGeom prst="rect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35040" y="1828800"/>
            <a:ext cx="457200" cy="457200"/>
          </a:xfrm>
          <a:prstGeom prst="ellipse">
            <a:avLst/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2000" b="1">
                <a:solidFill>
                  <a:srgbClr val="FBFBF8"/>
                </a:solidFill>
                <a:latin typeface="Arial"/>
              </a:rPr>
              <a:t>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A7179"/>
                </a:solidFill>
                <a:latin typeface="Arial"/>
              </a:rPr>
              <a:t>A third method (BERT) was in the original paper, but it ran out of memory there — no baseline to replicate.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3 /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1 — REPLICATION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Paper's default settings, our dataset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0292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463040"/>
                <a:gridCol w="960120"/>
                <a:gridCol w="86868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0.013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doc2vec_lr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0.290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48463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Doc2Vec beats LDA on both tasks. The coarser 15-category task is much easier than the 260+-category task — matches the original paper's pattern.</a:t>
            </a:r>
          </a:p>
        </p:txBody>
      </p:sp>
      <p:pic>
        <p:nvPicPr>
          <p:cNvPr id="7" name="Picture 6" descr="phase1_test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00200"/>
            <a:ext cx="5212080" cy="2895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4 /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2 — HYPERPARAMETER TUNING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Dev-only tuning, test touched once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22960" y="1600200"/>
          <a:ext cx="55778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1005840"/>
                <a:gridCol w="1188720"/>
                <a:gridCol w="11887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Model + Task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Param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Before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After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39.3%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48.7%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lda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topics=100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8.3%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19.9%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issue_area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59.1%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doc2vec — issue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dim=50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37.1%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42.0%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22960" y="4160520"/>
            <a:ext cx="539496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LDA needed more topics (50→100) to separate 15+ categories. Doc2Vec preferred a smaller fingerprint (100→50) — with only ~5,600 training rulings, bigger vectors just overfit.</a:t>
            </a:r>
          </a:p>
        </p:txBody>
      </p:sp>
      <p:pic>
        <p:nvPicPr>
          <p:cNvPr id="7" name="Picture 6" descr="before_after_tu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600200"/>
            <a:ext cx="4663440" cy="25908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5 / 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PHASE 3 — BEYOND THE PAPER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Same features, different classifier on 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49377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The paper only tries Logistic Regression. We also tried SVM, Random Forest, and Gaussian Naive Bayes — same Doc2Vec fingerprints, issue_area task.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822960" y="2377440"/>
          <a:ext cx="49377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280160"/>
                <a:gridCol w="12801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Classifier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Test Acc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BFBF8"/>
                          </a:solidFill>
                          <a:latin typeface="Arial"/>
                        </a:rPr>
                        <a:t>F1</a:t>
                      </a:r>
                    </a:p>
                  </a:txBody>
                  <a:tcPr anchor="ctr">
                    <a:solidFill>
                      <a:srgbClr val="142340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SVM (RBF)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68.8%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1E7A3D"/>
                          </a:solidFill>
                          <a:latin typeface="Arial"/>
                        </a:rPr>
                        <a:t>0.499</a:t>
                      </a:r>
                    </a:p>
                  </a:txBody>
                  <a:tcPr anchor="ctr">
                    <a:solidFill>
                      <a:srgbClr val="E8F3E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Logistic Regression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62.2%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0.477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Random 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59.6%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0.317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Gaussian Naive Bayes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58.7%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A1A1A"/>
                          </a:solidFill>
                          <a:latin typeface="Arial"/>
                        </a:rPr>
                        <a:t>0.462</a:t>
                      </a:r>
                    </a:p>
                  </a:txBody>
                  <a:tcPr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22960" y="4526280"/>
            <a:ext cx="4937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6A7179"/>
                </a:solidFill>
                <a:latin typeface="Arial"/>
              </a:rPr>
              <a:t>SVM (RBF, C=1.0), Random Forest (200 trees) and Naive Bayes use defaults, untuned; LR (C=1.0) is the tuned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12064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4A5568"/>
                </a:solidFill>
                <a:latin typeface="Arial"/>
              </a:rPr>
              <a:t>SVM wins — its RBF kernel draws a curved decision boundary through the embedding space that straight-line Logistic Regression can't match.</a:t>
            </a:r>
          </a:p>
        </p:txBody>
      </p:sp>
      <p:pic>
        <p:nvPicPr>
          <p:cNvPr id="9" name="Picture 8" descr="classifi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00200"/>
            <a:ext cx="5394960" cy="29672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6 / 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A CLOSER LOOK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1A1A1A"/>
                </a:solidFill>
                <a:latin typeface="Arial"/>
              </a:rPr>
              <a:t>LDA guesses the majority class. Doc2Vec doesn't.</a:t>
            </a:r>
          </a:p>
        </p:txBody>
      </p:sp>
      <p:pic>
        <p:nvPicPr>
          <p:cNvPr id="5" name="Picture 4" descr="per_category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248" y="1600200"/>
            <a:ext cx="8229600" cy="41148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188720" y="5870448"/>
            <a:ext cx="201168" cy="201168"/>
          </a:xfrm>
          <a:prstGeom prst="rect">
            <a:avLst/>
          </a:prstGeom>
          <a:solidFill>
            <a:srgbClr val="B32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08760" y="57972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A5568"/>
                </a:solidFill>
                <a:latin typeface="Arial"/>
              </a:rPr>
              <a:t>LDA — collapses on rare categories (near-0 F1 on Privacy, Attorneys)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0" y="5870448"/>
            <a:ext cx="201168" cy="201168"/>
          </a:xfrm>
          <a:prstGeom prst="rect">
            <a:avLst/>
          </a:prstGeom>
          <a:solidFill>
            <a:srgbClr val="1E7A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797296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4A5568"/>
                </a:solidFill>
                <a:latin typeface="Arial"/>
              </a:rPr>
              <a:t>Doc2Vec — far more balanced across all 13 categories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7 / 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2A5CAA"/>
                </a:solidFill>
                <a:latin typeface="Arial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2800" b="1" i="0">
                <a:solidFill>
                  <a:srgbClr val="1A1A1A"/>
                </a:solidFill>
                <a:latin typeface="Arial"/>
              </a:rPr>
              <a:t>Each phase pushed the best model further</a:t>
            </a:r>
          </a:p>
        </p:txBody>
      </p:sp>
      <p:pic>
        <p:nvPicPr>
          <p:cNvPr id="5" name="Picture 4" descr="progress_by_ph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828800"/>
            <a:ext cx="5486400" cy="377190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6675120" y="2377440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2350008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1: Doc2Vec + Logistic Regression, paper's default settings — 59.1%</a:t>
            </a:r>
          </a:p>
        </p:txBody>
      </p:sp>
      <p:sp>
        <p:nvSpPr>
          <p:cNvPr id="8" name="Oval 7"/>
          <p:cNvSpPr/>
          <p:nvPr/>
        </p:nvSpPr>
        <p:spPr>
          <a:xfrm>
            <a:off x="6675120" y="2944368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2916936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2: tuned vector_size (100→50) and C on dev only — 62.2%</a:t>
            </a:r>
          </a:p>
        </p:txBody>
      </p:sp>
      <p:sp>
        <p:nvSpPr>
          <p:cNvPr id="10" name="Oval 9"/>
          <p:cNvSpPr/>
          <p:nvPr/>
        </p:nvSpPr>
        <p:spPr>
          <a:xfrm>
            <a:off x="6675120" y="3511296"/>
            <a:ext cx="292608" cy="292608"/>
          </a:xfrm>
          <a:prstGeom prst="ellipse">
            <a:avLst/>
          </a:prstGeom>
          <a:solidFill>
            <a:srgbClr val="2A5CA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0" y="3483864"/>
            <a:ext cx="4206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A1A1A"/>
                </a:solidFill>
                <a:latin typeface="Arial"/>
              </a:rPr>
              <a:t>Phase 3: swapped in SVM (RBF kernel) on the same features — 68.8%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4846320"/>
            <a:ext cx="46634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1">
                <a:solidFill>
                  <a:srgbClr val="4A5568"/>
                </a:solidFill>
                <a:latin typeface="Arial"/>
              </a:rPr>
              <a:t>Nearly 10 points of accuracy gained beyond the paper's own result, without touching the dataset.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63550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6A7179"/>
                </a:solidFill>
                <a:latin typeface="Arial"/>
              </a:rPr>
              <a:t>8 /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 i="0">
                <a:solidFill>
                  <a:srgbClr val="8FB4FF"/>
                </a:solidFill>
                <a:latin typeface="Arial"/>
              </a:rPr>
              <a:t>CONCLUSIONS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463040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3560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Doc2Vec embeddings consistently beat LDA topic features on this task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2029968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2002536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Coarse 15-category task is much easier than the 260+-category one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596896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569464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Tuning hyperparameters gave real gains everywhere (not just marginal)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3163824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3136392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SVM beat every classifier on Doc2Vec issue_area (on LDA ~level with LR: 49.1 vs 48.7%)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730752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03320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Our numbers land in the same range and order as the original paper's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297680"/>
            <a:ext cx="292608" cy="292608"/>
          </a:xfrm>
          <a:prstGeom prst="ellipse">
            <a:avLst/>
          </a:prstGeom>
          <a:solidFill>
            <a:srgbClr val="8FB4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300" b="1">
                <a:solidFill>
                  <a:srgbClr val="142340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270248"/>
            <a:ext cx="9784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E3E9F5"/>
                </a:solidFill>
                <a:latin typeface="Arial"/>
              </a:rPr>
              <a:t>BERT not replicated — paper's own attempt ran out of memory, no baseline to match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6309360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8FB4FF"/>
                </a:solidFill>
                <a:latin typeface="Arial"/>
              </a:rPr>
              <a:t>github.com/amogh-herle/ML-MINI-PROJECT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630936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85AD"/>
                </a:solidFill>
                <a:latin typeface="Arial"/>
              </a:rPr>
              <a:t>9 / 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