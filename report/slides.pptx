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822960"/>
            <a:ext cx="10058400" cy="365760"/>
          </a:xfrm>
          <a:prstGeom prst="rect">
            <a:avLst/>
          </a:prstGeom>
          <a:noFill/>
        </p:spPr>
        <p:txBody>
          <a:bodyPr wrap="square">
            <a:spAutoFit/>
          </a:bodyPr>
          <a:lstStyle/>
          <a:p>
            <a:pPr algn="l">
              <a:lnSpc>
                <a:spcPct val="110000"/>
              </a:lnSpc>
            </a:pPr>
            <a:r>
              <a:rPr sz="1500" b="1" i="0">
                <a:solidFill>
                  <a:srgbClr val="8FB4FF"/>
                </a:solidFill>
                <a:latin typeface="Arial"/>
              </a:rPr>
              <a:t>UE24CS352A — MACHINE LEARNING MINI-PROJECT</a:t>
            </a:r>
          </a:p>
        </p:txBody>
      </p:sp>
      <p:sp>
        <p:nvSpPr>
          <p:cNvPr id="4" name="Rounded Rectangle 3"/>
          <p:cNvSpPr/>
          <p:nvPr/>
        </p:nvSpPr>
        <p:spPr>
          <a:xfrm>
            <a:off x="850392" y="1371600"/>
            <a:ext cx="1463040" cy="64008"/>
          </a:xfrm>
          <a:prstGeom prst="roundRect">
            <a:avLst>
              <a:gd name="adj" fmla="val 50000"/>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10058400" cy="1645920"/>
          </a:xfrm>
          <a:prstGeom prst="rect">
            <a:avLst/>
          </a:prstGeom>
          <a:noFill/>
        </p:spPr>
        <p:txBody>
          <a:bodyPr wrap="square">
            <a:spAutoFit/>
          </a:bodyPr>
          <a:lstStyle/>
          <a:p>
            <a:pPr algn="l">
              <a:lnSpc>
                <a:spcPct val="110000"/>
              </a:lnSpc>
            </a:pPr>
            <a:r>
              <a:rPr sz="4800" b="1" i="0">
                <a:solidFill>
                  <a:srgbClr val="FBFBF8"/>
                </a:solidFill>
                <a:latin typeface="Arial"/>
              </a:rPr>
              <a:t>Classification of Legal Text</a:t>
            </a:r>
          </a:p>
        </p:txBody>
      </p:sp>
      <p:sp>
        <p:nvSpPr>
          <p:cNvPr id="6" name="TextBox 5"/>
          <p:cNvSpPr txBox="1"/>
          <p:nvPr/>
        </p:nvSpPr>
        <p:spPr>
          <a:xfrm>
            <a:off x="822960" y="2788920"/>
            <a:ext cx="9601200" cy="1097280"/>
          </a:xfrm>
          <a:prstGeom prst="rect">
            <a:avLst/>
          </a:prstGeom>
          <a:noFill/>
        </p:spPr>
        <p:txBody>
          <a:bodyPr wrap="square">
            <a:spAutoFit/>
          </a:bodyPr>
          <a:lstStyle/>
          <a:p>
            <a:pPr algn="l">
              <a:lnSpc>
                <a:spcPct val="130000"/>
              </a:lnSpc>
            </a:pPr>
            <a:r>
              <a:rPr sz="2000" b="0" i="0">
                <a:solidFill>
                  <a:srgbClr val="C7D4EA"/>
                </a:solidFill>
                <a:latin typeface="Arial"/>
              </a:rPr>
              <a:t>Replicating &amp; extending a Stanford CS229 NLP project — teaching a classifier to read U.S. Supreme Court opinions and guess their legal category.</a:t>
            </a:r>
          </a:p>
        </p:txBody>
      </p:sp>
      <p:sp>
        <p:nvSpPr>
          <p:cNvPr id="7" name="Oval 6"/>
          <p:cNvSpPr/>
          <p:nvPr/>
        </p:nvSpPr>
        <p:spPr>
          <a:xfrm>
            <a:off x="10012680" y="502920"/>
            <a:ext cx="1371600" cy="1371600"/>
          </a:xfrm>
          <a:prstGeom prst="ellipse">
            <a:avLst/>
          </a:prstGeom>
          <a:solidFill>
            <a:srgbClr val="1C305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500" b="1">
                <a:solidFill>
                  <a:srgbClr val="8FB4FF"/>
                </a:solidFill>
                <a:latin typeface="Arial"/>
              </a:rPr>
              <a:t>70.1%</a:t>
            </a:r>
          </a:p>
        </p:txBody>
      </p:sp>
      <p:sp>
        <p:nvSpPr>
          <p:cNvPr id="8" name="TextBox 7"/>
          <p:cNvSpPr txBox="1"/>
          <p:nvPr/>
        </p:nvSpPr>
        <p:spPr>
          <a:xfrm>
            <a:off x="10012680" y="1965960"/>
            <a:ext cx="1371600" cy="274320"/>
          </a:xfrm>
          <a:prstGeom prst="rect">
            <a:avLst/>
          </a:prstGeom>
          <a:noFill/>
        </p:spPr>
        <p:txBody>
          <a:bodyPr wrap="square">
            <a:spAutoFit/>
          </a:bodyPr>
          <a:lstStyle/>
          <a:p>
            <a:pPr algn="ctr">
              <a:lnSpc>
                <a:spcPct val="110000"/>
              </a:lnSpc>
            </a:pPr>
            <a:r>
              <a:rPr sz="1000" b="0" i="0">
                <a:solidFill>
                  <a:srgbClr val="6E85AD"/>
                </a:solidFill>
                <a:latin typeface="Arial"/>
              </a:rPr>
              <a:t>best test acc</a:t>
            </a:r>
          </a:p>
        </p:txBody>
      </p:sp>
      <p:sp>
        <p:nvSpPr>
          <p:cNvPr id="9" name="TextBox 8"/>
          <p:cNvSpPr txBox="1"/>
          <p:nvPr/>
        </p:nvSpPr>
        <p:spPr>
          <a:xfrm>
            <a:off x="822960" y="6309360"/>
            <a:ext cx="10058400" cy="365760"/>
          </a:xfrm>
          <a:prstGeom prst="rect">
            <a:avLst/>
          </a:prstGeom>
          <a:noFill/>
        </p:spPr>
        <p:txBody>
          <a:bodyPr wrap="square">
            <a:spAutoFit/>
          </a:bodyPr>
          <a:lstStyle/>
          <a:p>
            <a:pPr algn="l">
              <a:lnSpc>
                <a:spcPct val="110000"/>
              </a:lnSpc>
            </a:pPr>
            <a:r>
              <a:rPr sz="1300" b="0" i="0">
                <a:solidFill>
                  <a:srgbClr val="6E85AD"/>
                </a:solidFill>
                <a:latin typeface="Arial"/>
              </a:rPr>
              <a:t>Based on: Krithika Iyer, "Classification of Legal Text" (CS229, 2020)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2A5CAA"/>
                </a:solidFill>
                <a:latin typeface="Arial"/>
              </a:rPr>
              <a:t>EXECUTIVE SUMMARY</a:t>
            </a:r>
          </a:p>
        </p:txBody>
      </p:sp>
      <p:sp>
        <p:nvSpPr>
          <p:cNvPr id="4" name="TextBox 3"/>
          <p:cNvSpPr txBox="1"/>
          <p:nvPr/>
        </p:nvSpPr>
        <p:spPr>
          <a:xfrm>
            <a:off x="822960" y="868680"/>
            <a:ext cx="10515600" cy="640080"/>
          </a:xfrm>
          <a:prstGeom prst="rect">
            <a:avLst/>
          </a:prstGeom>
          <a:noFill/>
        </p:spPr>
        <p:txBody>
          <a:bodyPr wrap="square">
            <a:spAutoFit/>
          </a:bodyPr>
          <a:lstStyle/>
          <a:p>
            <a:pPr algn="l">
              <a:lnSpc>
                <a:spcPct val="110000"/>
              </a:lnSpc>
            </a:pPr>
            <a:r>
              <a:rPr sz="2800" b="1" i="0">
                <a:solidFill>
                  <a:srgbClr val="1A1A1A"/>
                </a:solidFill>
                <a:latin typeface="Arial"/>
              </a:rPr>
              <a:t>Five phases, one steadily improving model</a:t>
            </a:r>
          </a:p>
        </p:txBody>
      </p:sp>
      <p:sp>
        <p:nvSpPr>
          <p:cNvPr id="5" name="Rounded Rectangle 4"/>
          <p:cNvSpPr/>
          <p:nvPr/>
        </p:nvSpPr>
        <p:spPr>
          <a:xfrm>
            <a:off x="822960" y="1737360"/>
            <a:ext cx="2430018" cy="1554480"/>
          </a:xfrm>
          <a:prstGeom prst="roundRect">
            <a:avLst>
              <a:gd name="adj" fmla="val 60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86076"/>
            <a:ext cx="2430018" cy="777240"/>
          </a:xfrm>
          <a:prstGeom prst="rect">
            <a:avLst/>
          </a:prstGeom>
          <a:noFill/>
        </p:spPr>
        <p:txBody>
          <a:bodyPr wrap="square">
            <a:spAutoFit/>
          </a:bodyPr>
          <a:lstStyle/>
          <a:p>
            <a:pPr algn="ctr">
              <a:lnSpc>
                <a:spcPct val="110000"/>
              </a:lnSpc>
            </a:pPr>
            <a:r>
              <a:rPr sz="3400" b="1" i="0">
                <a:solidFill>
                  <a:srgbClr val="2A5CAA"/>
                </a:solidFill>
                <a:latin typeface="Arial"/>
              </a:rPr>
              <a:t>70.1%</a:t>
            </a:r>
          </a:p>
        </p:txBody>
      </p:sp>
      <p:sp>
        <p:nvSpPr>
          <p:cNvPr id="7" name="TextBox 6"/>
          <p:cNvSpPr txBox="1"/>
          <p:nvPr/>
        </p:nvSpPr>
        <p:spPr>
          <a:xfrm>
            <a:off x="932688" y="2701137"/>
            <a:ext cx="2210561" cy="544068"/>
          </a:xfrm>
          <a:prstGeom prst="rect">
            <a:avLst/>
          </a:prstGeom>
          <a:noFill/>
        </p:spPr>
        <p:txBody>
          <a:bodyPr wrap="square">
            <a:spAutoFit/>
          </a:bodyPr>
          <a:lstStyle/>
          <a:p>
            <a:pPr algn="ctr">
              <a:lnSpc>
                <a:spcPct val="115000"/>
              </a:lnSpc>
            </a:pPr>
            <a:r>
              <a:rPr sz="1250" b="0" i="0">
                <a:solidFill>
                  <a:srgbClr val="4A5568"/>
                </a:solidFill>
                <a:latin typeface="Arial"/>
              </a:rPr>
              <a:t>Best test accuracy
(SBERT + SVM)</a:t>
            </a:r>
          </a:p>
        </p:txBody>
      </p:sp>
      <p:sp>
        <p:nvSpPr>
          <p:cNvPr id="8" name="Rounded Rectangle 7"/>
          <p:cNvSpPr/>
          <p:nvPr/>
        </p:nvSpPr>
        <p:spPr>
          <a:xfrm>
            <a:off x="3527297" y="1737360"/>
            <a:ext cx="2430018" cy="1554480"/>
          </a:xfrm>
          <a:prstGeom prst="roundRect">
            <a:avLst>
              <a:gd name="adj" fmla="val 60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7297" y="1986076"/>
            <a:ext cx="2430018" cy="777240"/>
          </a:xfrm>
          <a:prstGeom prst="rect">
            <a:avLst/>
          </a:prstGeom>
          <a:noFill/>
        </p:spPr>
        <p:txBody>
          <a:bodyPr wrap="square">
            <a:spAutoFit/>
          </a:bodyPr>
          <a:lstStyle/>
          <a:p>
            <a:pPr algn="ctr">
              <a:lnSpc>
                <a:spcPct val="110000"/>
              </a:lnSpc>
            </a:pPr>
            <a:r>
              <a:rPr sz="3400" b="1" i="0">
                <a:solidFill>
                  <a:srgbClr val="1E7A3D"/>
                </a:solidFill>
                <a:latin typeface="Arial"/>
              </a:rPr>
              <a:t>5</a:t>
            </a:r>
          </a:p>
        </p:txBody>
      </p:sp>
      <p:sp>
        <p:nvSpPr>
          <p:cNvPr id="10" name="TextBox 9"/>
          <p:cNvSpPr txBox="1"/>
          <p:nvPr/>
        </p:nvSpPr>
        <p:spPr>
          <a:xfrm>
            <a:off x="3637025" y="2701137"/>
            <a:ext cx="2210561" cy="544068"/>
          </a:xfrm>
          <a:prstGeom prst="rect">
            <a:avLst/>
          </a:prstGeom>
          <a:noFill/>
        </p:spPr>
        <p:txBody>
          <a:bodyPr wrap="square">
            <a:spAutoFit/>
          </a:bodyPr>
          <a:lstStyle/>
          <a:p>
            <a:pPr algn="ctr">
              <a:lnSpc>
                <a:spcPct val="115000"/>
              </a:lnSpc>
            </a:pPr>
            <a:r>
              <a:rPr sz="1250" b="0" i="0">
                <a:solidFill>
                  <a:srgbClr val="4A5568"/>
                </a:solidFill>
                <a:latin typeface="Arial"/>
              </a:rPr>
              <a:t>Phases of work</a:t>
            </a:r>
          </a:p>
        </p:txBody>
      </p:sp>
      <p:sp>
        <p:nvSpPr>
          <p:cNvPr id="11" name="Rounded Rectangle 10"/>
          <p:cNvSpPr/>
          <p:nvPr/>
        </p:nvSpPr>
        <p:spPr>
          <a:xfrm>
            <a:off x="6231636" y="1737360"/>
            <a:ext cx="2430018" cy="1554480"/>
          </a:xfrm>
          <a:prstGeom prst="roundRect">
            <a:avLst>
              <a:gd name="adj" fmla="val 60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31636" y="1986076"/>
            <a:ext cx="2430018" cy="777240"/>
          </a:xfrm>
          <a:prstGeom prst="rect">
            <a:avLst/>
          </a:prstGeom>
          <a:noFill/>
        </p:spPr>
        <p:txBody>
          <a:bodyPr wrap="square">
            <a:spAutoFit/>
          </a:bodyPr>
          <a:lstStyle/>
          <a:p>
            <a:pPr algn="ctr">
              <a:lnSpc>
                <a:spcPct val="110000"/>
              </a:lnSpc>
            </a:pPr>
            <a:r>
              <a:rPr sz="3400" b="1" i="0">
                <a:solidFill>
                  <a:srgbClr val="6B4FA0"/>
                </a:solidFill>
                <a:latin typeface="Arial"/>
              </a:rPr>
              <a:t>13</a:t>
            </a:r>
          </a:p>
        </p:txBody>
      </p:sp>
      <p:sp>
        <p:nvSpPr>
          <p:cNvPr id="13" name="TextBox 12"/>
          <p:cNvSpPr txBox="1"/>
          <p:nvPr/>
        </p:nvSpPr>
        <p:spPr>
          <a:xfrm>
            <a:off x="6341364" y="2701137"/>
            <a:ext cx="2210561" cy="544068"/>
          </a:xfrm>
          <a:prstGeom prst="rect">
            <a:avLst/>
          </a:prstGeom>
          <a:noFill/>
        </p:spPr>
        <p:txBody>
          <a:bodyPr wrap="square">
            <a:spAutoFit/>
          </a:bodyPr>
          <a:lstStyle/>
          <a:p>
            <a:pPr algn="ctr">
              <a:lnSpc>
                <a:spcPct val="115000"/>
              </a:lnSpc>
            </a:pPr>
            <a:r>
              <a:rPr sz="1250" b="0" i="0">
                <a:solidFill>
                  <a:srgbClr val="4A5568"/>
                </a:solidFill>
                <a:latin typeface="Arial"/>
              </a:rPr>
              <a:t>Legal categories
(issue_area)</a:t>
            </a:r>
          </a:p>
        </p:txBody>
      </p:sp>
      <p:sp>
        <p:nvSpPr>
          <p:cNvPr id="14" name="Rounded Rectangle 13"/>
          <p:cNvSpPr/>
          <p:nvPr/>
        </p:nvSpPr>
        <p:spPr>
          <a:xfrm>
            <a:off x="8935974" y="1737360"/>
            <a:ext cx="2430018" cy="1554480"/>
          </a:xfrm>
          <a:prstGeom prst="roundRect">
            <a:avLst>
              <a:gd name="adj" fmla="val 60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35974" y="1986076"/>
            <a:ext cx="2430018" cy="777240"/>
          </a:xfrm>
          <a:prstGeom prst="rect">
            <a:avLst/>
          </a:prstGeom>
          <a:noFill/>
        </p:spPr>
        <p:txBody>
          <a:bodyPr wrap="square">
            <a:spAutoFit/>
          </a:bodyPr>
          <a:lstStyle/>
          <a:p>
            <a:pPr algn="ctr">
              <a:lnSpc>
                <a:spcPct val="110000"/>
              </a:lnSpc>
            </a:pPr>
            <a:r>
              <a:rPr sz="3400" b="1" i="0">
                <a:solidFill>
                  <a:srgbClr val="B3261E"/>
                </a:solidFill>
                <a:latin typeface="Arial"/>
              </a:rPr>
              <a:t>7,971</a:t>
            </a:r>
          </a:p>
        </p:txBody>
      </p:sp>
      <p:sp>
        <p:nvSpPr>
          <p:cNvPr id="16" name="TextBox 15"/>
          <p:cNvSpPr txBox="1"/>
          <p:nvPr/>
        </p:nvSpPr>
        <p:spPr>
          <a:xfrm>
            <a:off x="9045701" y="2701137"/>
            <a:ext cx="2210561" cy="544068"/>
          </a:xfrm>
          <a:prstGeom prst="rect">
            <a:avLst/>
          </a:prstGeom>
          <a:noFill/>
        </p:spPr>
        <p:txBody>
          <a:bodyPr wrap="square">
            <a:spAutoFit/>
          </a:bodyPr>
          <a:lstStyle/>
          <a:p>
            <a:pPr algn="ctr">
              <a:lnSpc>
                <a:spcPct val="115000"/>
              </a:lnSpc>
            </a:pPr>
            <a:r>
              <a:rPr sz="1250" b="0" i="0">
                <a:solidFill>
                  <a:srgbClr val="4A5568"/>
                </a:solidFill>
                <a:latin typeface="Arial"/>
              </a:rPr>
              <a:t>Supreme Court opinions
used</a:t>
            </a:r>
          </a:p>
        </p:txBody>
      </p:sp>
      <p:sp>
        <p:nvSpPr>
          <p:cNvPr id="17" name="TextBox 16"/>
          <p:cNvSpPr txBox="1"/>
          <p:nvPr/>
        </p:nvSpPr>
        <p:spPr>
          <a:xfrm>
            <a:off x="822960" y="3520440"/>
            <a:ext cx="10241280" cy="457200"/>
          </a:xfrm>
          <a:prstGeom prst="rect">
            <a:avLst/>
          </a:prstGeom>
          <a:noFill/>
        </p:spPr>
        <p:txBody>
          <a:bodyPr wrap="square">
            <a:spAutoFit/>
          </a:bodyPr>
          <a:lstStyle/>
          <a:p>
            <a:pPr algn="l">
              <a:lnSpc>
                <a:spcPct val="130000"/>
              </a:lnSpc>
            </a:pPr>
            <a:r>
              <a:rPr sz="1500" b="0" i="0">
                <a:solidFill>
                  <a:srgbClr val="4A5568"/>
                </a:solidFill>
                <a:latin typeface="Arial"/>
              </a:rPr>
              <a:t>We replicated the original paper's two methods (LDA, Doc2Vec), then went beyond it: compared 4 classifier types, deep-tuned the winner, and swapped in a modern pretrained embedding model.</a:t>
            </a:r>
          </a:p>
        </p:txBody>
      </p:sp>
      <p:sp>
        <p:nvSpPr>
          <p:cNvPr id="18" name="Oval 17"/>
          <p:cNvSpPr/>
          <p:nvPr/>
        </p:nvSpPr>
        <p:spPr>
          <a:xfrm>
            <a:off x="822960" y="4160520"/>
            <a:ext cx="292608" cy="292608"/>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19" name="TextBox 18"/>
          <p:cNvSpPr txBox="1"/>
          <p:nvPr/>
        </p:nvSpPr>
        <p:spPr>
          <a:xfrm>
            <a:off x="1280160" y="4133087"/>
            <a:ext cx="9784080" cy="457200"/>
          </a:xfrm>
          <a:prstGeom prst="rect">
            <a:avLst/>
          </a:prstGeom>
          <a:noFill/>
        </p:spPr>
        <p:txBody>
          <a:bodyPr wrap="square">
            <a:spAutoFit/>
          </a:bodyPr>
          <a:lstStyle/>
          <a:p>
            <a:pPr algn="l">
              <a:lnSpc>
                <a:spcPct val="115000"/>
              </a:lnSpc>
            </a:pPr>
            <a:r>
              <a:rPr sz="1500" b="0" i="0">
                <a:solidFill>
                  <a:srgbClr val="1A1A1A"/>
                </a:solidFill>
                <a:latin typeface="Arial"/>
              </a:rPr>
              <a:t>Replicated the paper's Doc2Vec+LR baseline: 59.1% accuracy</a:t>
            </a:r>
          </a:p>
        </p:txBody>
      </p:sp>
      <p:sp>
        <p:nvSpPr>
          <p:cNvPr id="20" name="Oval 19"/>
          <p:cNvSpPr/>
          <p:nvPr/>
        </p:nvSpPr>
        <p:spPr>
          <a:xfrm>
            <a:off x="822960" y="4617720"/>
            <a:ext cx="292608" cy="292608"/>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21" name="TextBox 20"/>
          <p:cNvSpPr txBox="1"/>
          <p:nvPr/>
        </p:nvSpPr>
        <p:spPr>
          <a:xfrm>
            <a:off x="1280160" y="4590288"/>
            <a:ext cx="9784080" cy="457200"/>
          </a:xfrm>
          <a:prstGeom prst="rect">
            <a:avLst/>
          </a:prstGeom>
          <a:noFill/>
        </p:spPr>
        <p:txBody>
          <a:bodyPr wrap="square">
            <a:spAutoFit/>
          </a:bodyPr>
          <a:lstStyle/>
          <a:p>
            <a:pPr algn="l">
              <a:lnSpc>
                <a:spcPct val="115000"/>
              </a:lnSpc>
            </a:pPr>
            <a:r>
              <a:rPr sz="1500" b="0" i="0">
                <a:solidFill>
                  <a:srgbClr val="1A1A1A"/>
                </a:solidFill>
                <a:latin typeface="Arial"/>
              </a:rPr>
              <a:t>Tuning the paper's own setup got it to 62.2%, then swapping in SVM got to 68.8%</a:t>
            </a:r>
          </a:p>
        </p:txBody>
      </p:sp>
      <p:sp>
        <p:nvSpPr>
          <p:cNvPr id="22" name="Oval 21"/>
          <p:cNvSpPr/>
          <p:nvPr/>
        </p:nvSpPr>
        <p:spPr>
          <a:xfrm>
            <a:off x="822960" y="5074920"/>
            <a:ext cx="292608" cy="292608"/>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23" name="TextBox 22"/>
          <p:cNvSpPr txBox="1"/>
          <p:nvPr/>
        </p:nvSpPr>
        <p:spPr>
          <a:xfrm>
            <a:off x="1280160" y="5047488"/>
            <a:ext cx="9784080" cy="457200"/>
          </a:xfrm>
          <a:prstGeom prst="rect">
            <a:avLst/>
          </a:prstGeom>
          <a:noFill/>
        </p:spPr>
        <p:txBody>
          <a:bodyPr wrap="square">
            <a:spAutoFit/>
          </a:bodyPr>
          <a:lstStyle/>
          <a:p>
            <a:pPr algn="l">
              <a:lnSpc>
                <a:spcPct val="115000"/>
              </a:lnSpc>
            </a:pPr>
            <a:r>
              <a:rPr sz="1500" b="0" i="0">
                <a:solidFill>
                  <a:srgbClr val="1A1A1A"/>
                </a:solidFill>
                <a:latin typeface="Arial"/>
              </a:rPr>
              <a:t>A modern pretrained model (SBERT) beat everything, with zero training: 70.1%</a:t>
            </a:r>
          </a:p>
        </p:txBody>
      </p:sp>
      <p:sp>
        <p:nvSpPr>
          <p:cNvPr id="24" name="Oval 23"/>
          <p:cNvSpPr/>
          <p:nvPr/>
        </p:nvSpPr>
        <p:spPr>
          <a:xfrm>
            <a:off x="8808415" y="6473952"/>
            <a:ext cx="82296" cy="82296"/>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9912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741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3570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399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7228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056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0885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714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4543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6372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8200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0029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1858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A7179"/>
                </a:solidFill>
                <a:latin typeface="Arial"/>
              </a:rPr>
              <a:t>1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2A5CAA"/>
                </a:solidFill>
                <a:latin typeface="Arial"/>
              </a:rPr>
              <a:t>THE PROBLEM</a:t>
            </a:r>
          </a:p>
        </p:txBody>
      </p:sp>
      <p:sp>
        <p:nvSpPr>
          <p:cNvPr id="4" name="TextBox 3"/>
          <p:cNvSpPr txBox="1"/>
          <p:nvPr/>
        </p:nvSpPr>
        <p:spPr>
          <a:xfrm>
            <a:off x="822960" y="868680"/>
            <a:ext cx="10515600" cy="1005840"/>
          </a:xfrm>
          <a:prstGeom prst="rect">
            <a:avLst/>
          </a:prstGeom>
          <a:noFill/>
        </p:spPr>
        <p:txBody>
          <a:bodyPr wrap="square">
            <a:spAutoFit/>
          </a:bodyPr>
          <a:lstStyle/>
          <a:p>
            <a:pPr algn="l">
              <a:lnSpc>
                <a:spcPct val="110000"/>
              </a:lnSpc>
            </a:pPr>
            <a:r>
              <a:rPr sz="2800" b="1" i="0">
                <a:solidFill>
                  <a:srgbClr val="1A1A1A"/>
                </a:solidFill>
                <a:latin typeface="Arial"/>
              </a:rPr>
              <a:t>Can a model guess a court ruling's legal category?</a:t>
            </a:r>
          </a:p>
        </p:txBody>
      </p:sp>
      <p:sp>
        <p:nvSpPr>
          <p:cNvPr id="5" name="TextBox 4"/>
          <p:cNvSpPr txBox="1"/>
          <p:nvPr/>
        </p:nvSpPr>
        <p:spPr>
          <a:xfrm>
            <a:off x="822960" y="1874519"/>
            <a:ext cx="10241280" cy="822960"/>
          </a:xfrm>
          <a:prstGeom prst="rect">
            <a:avLst/>
          </a:prstGeom>
          <a:noFill/>
        </p:spPr>
        <p:txBody>
          <a:bodyPr wrap="square">
            <a:spAutoFit/>
          </a:bodyPr>
          <a:lstStyle/>
          <a:p>
            <a:pPr algn="l">
              <a:lnSpc>
                <a:spcPct val="130000"/>
              </a:lnSpc>
            </a:pPr>
            <a:r>
              <a:rPr sz="1500" b="0" i="0">
                <a:solidFill>
                  <a:srgbClr val="4A5568"/>
                </a:solidFill>
                <a:latin typeface="Arial"/>
              </a:rPr>
              <a:t>Legal opinions use long, non-standard sentence structures that break typical NLP tooling. We classify U.S. Supreme Court opinions into their human-curated legal category — at two levels of detail.</a:t>
            </a:r>
          </a:p>
        </p:txBody>
      </p:sp>
      <p:sp>
        <p:nvSpPr>
          <p:cNvPr id="6" name="Rounded Rectangle 5"/>
          <p:cNvSpPr/>
          <p:nvPr/>
        </p:nvSpPr>
        <p:spPr>
          <a:xfrm>
            <a:off x="822960" y="2834640"/>
            <a:ext cx="4937760" cy="1920240"/>
          </a:xfrm>
          <a:prstGeom prst="roundRect">
            <a:avLst>
              <a:gd name="adj" fmla="val 45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wrap="square" lIns="347472" rIns="256032" tIns="228600" bIns="228600"/>
          <a:lstStyle/>
          <a:p>
            <a:pPr algn="ctr"/>
            <a:r>
              <a:rPr sz="2000" b="1">
                <a:solidFill>
                  <a:srgbClr val="2A5CAA"/>
                </a:solidFill>
                <a:latin typeface="Arial"/>
              </a:rPr>
              <a:t>15</a:t>
            </a:r>
          </a:p>
          <a:p>
            <a:pPr>
              <a:lnSpc>
                <a:spcPct val="115000"/>
              </a:lnSpc>
              <a:spcBef>
                <a:spcPts val="800"/>
              </a:spcBef>
            </a:pPr>
            <a:r>
              <a:rPr sz="1400">
                <a:solidFill>
                  <a:srgbClr val="4A5568"/>
                </a:solidFill>
                <a:latin typeface="Arial"/>
              </a:rPr>
              <a:t>Broad categories (issue_area) — e.g. Criminal Procedure, Civil Rights, First Amendment</a:t>
            </a:r>
          </a:p>
        </p:txBody>
      </p:sp>
      <p:sp>
        <p:nvSpPr>
          <p:cNvPr id="7" name="Rounded Rectangle 6"/>
          <p:cNvSpPr/>
          <p:nvPr/>
        </p:nvSpPr>
        <p:spPr>
          <a:xfrm>
            <a:off x="932688" y="2962656"/>
            <a:ext cx="73152" cy="1664208"/>
          </a:xfrm>
          <a:prstGeom prst="roundRect">
            <a:avLst>
              <a:gd name="adj" fmla="val 50000"/>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0" y="2834640"/>
            <a:ext cx="4937760" cy="1920240"/>
          </a:xfrm>
          <a:prstGeom prst="roundRect">
            <a:avLst>
              <a:gd name="adj" fmla="val 45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wrap="square" lIns="347471" rIns="256032" tIns="228600" bIns="228600"/>
          <a:lstStyle/>
          <a:p>
            <a:pPr algn="ctr"/>
            <a:r>
              <a:rPr sz="2000" b="1">
                <a:solidFill>
                  <a:srgbClr val="2A5CAA"/>
                </a:solidFill>
                <a:latin typeface="Arial"/>
              </a:rPr>
              <a:t>260+</a:t>
            </a:r>
          </a:p>
          <a:p>
            <a:pPr>
              <a:lnSpc>
                <a:spcPct val="115000"/>
              </a:lnSpc>
              <a:spcBef>
                <a:spcPts val="800"/>
              </a:spcBef>
            </a:pPr>
            <a:r>
              <a:rPr sz="1400">
                <a:solidFill>
                  <a:srgbClr val="4A5568"/>
                </a:solidFill>
                <a:latin typeface="Arial"/>
              </a:rPr>
              <a:t>Fine-grained issue codes (issue) — much harder, far less data per category</a:t>
            </a:r>
          </a:p>
        </p:txBody>
      </p:sp>
      <p:sp>
        <p:nvSpPr>
          <p:cNvPr id="9" name="Rounded Rectangle 8"/>
          <p:cNvSpPr/>
          <p:nvPr/>
        </p:nvSpPr>
        <p:spPr>
          <a:xfrm>
            <a:off x="6053328" y="2962656"/>
            <a:ext cx="73152" cy="1664208"/>
          </a:xfrm>
          <a:prstGeom prst="roundRect">
            <a:avLst>
              <a:gd name="adj" fmla="val 50000"/>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8084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991295" y="6473952"/>
            <a:ext cx="82296" cy="82296"/>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741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570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5399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228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9056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885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6372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8200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0029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1858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A7179"/>
                </a:solidFill>
                <a:latin typeface="Arial"/>
              </a:rPr>
              <a:t>2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2A5CAA"/>
                </a:solidFill>
                <a:latin typeface="Arial"/>
              </a:rPr>
              <a:t>DATASET</a:t>
            </a:r>
          </a:p>
        </p:txBody>
      </p:sp>
      <p:sp>
        <p:nvSpPr>
          <p:cNvPr id="4" name="TextBox 3"/>
          <p:cNvSpPr txBox="1"/>
          <p:nvPr/>
        </p:nvSpPr>
        <p:spPr>
          <a:xfrm>
            <a:off x="822960" y="868680"/>
            <a:ext cx="10515600" cy="822960"/>
          </a:xfrm>
          <a:prstGeom prst="rect">
            <a:avLst/>
          </a:prstGeom>
          <a:noFill/>
        </p:spPr>
        <p:txBody>
          <a:bodyPr wrap="square">
            <a:spAutoFit/>
          </a:bodyPr>
          <a:lstStyle/>
          <a:p>
            <a:pPr algn="l">
              <a:lnSpc>
                <a:spcPct val="110000"/>
              </a:lnSpc>
            </a:pPr>
            <a:r>
              <a:rPr sz="2800" b="1" i="0">
                <a:solidFill>
                  <a:srgbClr val="1A1A1A"/>
                </a:solidFill>
                <a:latin typeface="Arial"/>
              </a:rPr>
              <a:t>Real Supreme Court opinions — no substitute needed</a:t>
            </a:r>
          </a:p>
        </p:txBody>
      </p:sp>
      <p:sp>
        <p:nvSpPr>
          <p:cNvPr id="5" name="TextBox 4"/>
          <p:cNvSpPr txBox="1"/>
          <p:nvPr/>
        </p:nvSpPr>
        <p:spPr>
          <a:xfrm>
            <a:off x="822960" y="1600200"/>
            <a:ext cx="10241280" cy="548640"/>
          </a:xfrm>
          <a:prstGeom prst="rect">
            <a:avLst/>
          </a:prstGeom>
          <a:noFill/>
        </p:spPr>
        <p:txBody>
          <a:bodyPr wrap="square">
            <a:spAutoFit/>
          </a:bodyPr>
          <a:lstStyle/>
          <a:p>
            <a:pPr algn="l">
              <a:lnSpc>
                <a:spcPct val="130000"/>
              </a:lnSpc>
            </a:pPr>
            <a:r>
              <a:rPr sz="1500" b="0" i="0">
                <a:solidFill>
                  <a:srgbClr val="4A5568"/>
                </a:solidFill>
                <a:latin typeface="Arial"/>
              </a:rPr>
              <a:t>Same source the original paper used: the Supreme Court Database via the textacy package. Still downloadable today.</a:t>
            </a:r>
          </a:p>
        </p:txBody>
      </p:sp>
      <p:sp>
        <p:nvSpPr>
          <p:cNvPr id="6" name="Rounded Rectangle 5"/>
          <p:cNvSpPr/>
          <p:nvPr/>
        </p:nvSpPr>
        <p:spPr>
          <a:xfrm>
            <a:off x="822960" y="2331720"/>
            <a:ext cx="3331464" cy="1371600"/>
          </a:xfrm>
          <a:prstGeom prst="roundRect">
            <a:avLst>
              <a:gd name="adj" fmla="val 60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51176"/>
            <a:ext cx="3331464" cy="685800"/>
          </a:xfrm>
          <a:prstGeom prst="rect">
            <a:avLst/>
          </a:prstGeom>
          <a:noFill/>
        </p:spPr>
        <p:txBody>
          <a:bodyPr wrap="square">
            <a:spAutoFit/>
          </a:bodyPr>
          <a:lstStyle/>
          <a:p>
            <a:pPr algn="ctr">
              <a:lnSpc>
                <a:spcPct val="110000"/>
              </a:lnSpc>
            </a:pPr>
            <a:r>
              <a:rPr sz="3400" b="1" i="0">
                <a:solidFill>
                  <a:srgbClr val="2A5CAA"/>
                </a:solidFill>
                <a:latin typeface="Arial"/>
              </a:rPr>
              <a:t>8,419</a:t>
            </a:r>
          </a:p>
        </p:txBody>
      </p:sp>
      <p:sp>
        <p:nvSpPr>
          <p:cNvPr id="8" name="TextBox 7"/>
          <p:cNvSpPr txBox="1"/>
          <p:nvPr/>
        </p:nvSpPr>
        <p:spPr>
          <a:xfrm>
            <a:off x="932688" y="3182111"/>
            <a:ext cx="3112008" cy="480059"/>
          </a:xfrm>
          <a:prstGeom prst="rect">
            <a:avLst/>
          </a:prstGeom>
          <a:noFill/>
        </p:spPr>
        <p:txBody>
          <a:bodyPr wrap="square">
            <a:spAutoFit/>
          </a:bodyPr>
          <a:lstStyle/>
          <a:p>
            <a:pPr algn="ctr">
              <a:lnSpc>
                <a:spcPct val="115000"/>
              </a:lnSpc>
            </a:pPr>
            <a:r>
              <a:rPr sz="1250" b="0" i="0">
                <a:solidFill>
                  <a:srgbClr val="4A5568"/>
                </a:solidFill>
                <a:latin typeface="Arial"/>
              </a:rPr>
              <a:t>opinions, 1946-2016</a:t>
            </a:r>
          </a:p>
        </p:txBody>
      </p:sp>
      <p:sp>
        <p:nvSpPr>
          <p:cNvPr id="9" name="Rounded Rectangle 8"/>
          <p:cNvSpPr/>
          <p:nvPr/>
        </p:nvSpPr>
        <p:spPr>
          <a:xfrm>
            <a:off x="4428744" y="2331720"/>
            <a:ext cx="3331464" cy="1371600"/>
          </a:xfrm>
          <a:prstGeom prst="roundRect">
            <a:avLst>
              <a:gd name="adj" fmla="val 60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28744" y="2551176"/>
            <a:ext cx="3331464" cy="685800"/>
          </a:xfrm>
          <a:prstGeom prst="rect">
            <a:avLst/>
          </a:prstGeom>
          <a:noFill/>
        </p:spPr>
        <p:txBody>
          <a:bodyPr wrap="square">
            <a:spAutoFit/>
          </a:bodyPr>
          <a:lstStyle/>
          <a:p>
            <a:pPr algn="ctr">
              <a:lnSpc>
                <a:spcPct val="110000"/>
              </a:lnSpc>
            </a:pPr>
            <a:r>
              <a:rPr sz="3400" b="1" i="0">
                <a:solidFill>
                  <a:srgbClr val="2A5CAA"/>
                </a:solidFill>
                <a:latin typeface="Arial"/>
              </a:rPr>
              <a:t>7,971</a:t>
            </a:r>
          </a:p>
        </p:txBody>
      </p:sp>
      <p:sp>
        <p:nvSpPr>
          <p:cNvPr id="11" name="TextBox 10"/>
          <p:cNvSpPr txBox="1"/>
          <p:nvPr/>
        </p:nvSpPr>
        <p:spPr>
          <a:xfrm>
            <a:off x="4538472" y="3182111"/>
            <a:ext cx="3112008" cy="480059"/>
          </a:xfrm>
          <a:prstGeom prst="rect">
            <a:avLst/>
          </a:prstGeom>
          <a:noFill/>
        </p:spPr>
        <p:txBody>
          <a:bodyPr wrap="square">
            <a:spAutoFit/>
          </a:bodyPr>
          <a:lstStyle/>
          <a:p>
            <a:pPr algn="ctr">
              <a:lnSpc>
                <a:spcPct val="115000"/>
              </a:lnSpc>
            </a:pPr>
            <a:r>
              <a:rPr sz="1250" b="0" i="0">
                <a:solidFill>
                  <a:srgbClr val="4A5568"/>
                </a:solidFill>
                <a:latin typeface="Arial"/>
              </a:rPr>
              <a:t>after filtering rare classes</a:t>
            </a:r>
          </a:p>
        </p:txBody>
      </p:sp>
      <p:sp>
        <p:nvSpPr>
          <p:cNvPr id="12" name="Rounded Rectangle 11"/>
          <p:cNvSpPr/>
          <p:nvPr/>
        </p:nvSpPr>
        <p:spPr>
          <a:xfrm>
            <a:off x="8034527" y="2331720"/>
            <a:ext cx="3331464" cy="1371600"/>
          </a:xfrm>
          <a:prstGeom prst="roundRect">
            <a:avLst>
              <a:gd name="adj" fmla="val 60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4527" y="2551176"/>
            <a:ext cx="3331464" cy="685800"/>
          </a:xfrm>
          <a:prstGeom prst="rect">
            <a:avLst/>
          </a:prstGeom>
          <a:noFill/>
        </p:spPr>
        <p:txBody>
          <a:bodyPr wrap="square">
            <a:spAutoFit/>
          </a:bodyPr>
          <a:lstStyle/>
          <a:p>
            <a:pPr algn="ctr">
              <a:lnSpc>
                <a:spcPct val="110000"/>
              </a:lnSpc>
            </a:pPr>
            <a:r>
              <a:rPr sz="3400" b="1" i="0">
                <a:solidFill>
                  <a:srgbClr val="2A5CAA"/>
                </a:solidFill>
                <a:latin typeface="Arial"/>
              </a:rPr>
              <a:t>70/15/15</a:t>
            </a:r>
          </a:p>
        </p:txBody>
      </p:sp>
      <p:sp>
        <p:nvSpPr>
          <p:cNvPr id="14" name="TextBox 13"/>
          <p:cNvSpPr txBox="1"/>
          <p:nvPr/>
        </p:nvSpPr>
        <p:spPr>
          <a:xfrm>
            <a:off x="8144255" y="3182111"/>
            <a:ext cx="3112008" cy="480059"/>
          </a:xfrm>
          <a:prstGeom prst="rect">
            <a:avLst/>
          </a:prstGeom>
          <a:noFill/>
        </p:spPr>
        <p:txBody>
          <a:bodyPr wrap="square">
            <a:spAutoFit/>
          </a:bodyPr>
          <a:lstStyle/>
          <a:p>
            <a:pPr algn="ctr">
              <a:lnSpc>
                <a:spcPct val="115000"/>
              </a:lnSpc>
            </a:pPr>
            <a:r>
              <a:rPr sz="1250" b="0" i="0">
                <a:solidFill>
                  <a:srgbClr val="4A5568"/>
                </a:solidFill>
                <a:latin typeface="Arial"/>
              </a:rPr>
              <a:t>train / dev / test split</a:t>
            </a:r>
          </a:p>
        </p:txBody>
      </p:sp>
      <p:sp>
        <p:nvSpPr>
          <p:cNvPr id="15" name="TextBox 14"/>
          <p:cNvSpPr txBox="1"/>
          <p:nvPr/>
        </p:nvSpPr>
        <p:spPr>
          <a:xfrm>
            <a:off x="822960" y="4069080"/>
            <a:ext cx="10241280" cy="914400"/>
          </a:xfrm>
          <a:prstGeom prst="rect">
            <a:avLst/>
          </a:prstGeom>
          <a:noFill/>
        </p:spPr>
        <p:txBody>
          <a:bodyPr wrap="square">
            <a:spAutoFit/>
          </a:bodyPr>
          <a:lstStyle/>
          <a:p>
            <a:pPr algn="l">
              <a:lnSpc>
                <a:spcPct val="130000"/>
              </a:lnSpc>
            </a:pPr>
            <a:r>
              <a:rPr sz="1400" b="0" i="0">
                <a:solidFill>
                  <a:srgbClr val="6A7179"/>
                </a:solidFill>
                <a:latin typeface="Arial"/>
              </a:rPr>
              <a:t>Opinions run long (median ~34,000 characters) — each truncated to its first 4,000 characters so training stays fast, keeping the part where judges usually state the issue and holding.</a:t>
            </a:r>
          </a:p>
        </p:txBody>
      </p:sp>
      <p:sp>
        <p:nvSpPr>
          <p:cNvPr id="16" name="Oval 15"/>
          <p:cNvSpPr/>
          <p:nvPr/>
        </p:nvSpPr>
        <p:spPr>
          <a:xfrm>
            <a:off x="88084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9912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74175" y="6473952"/>
            <a:ext cx="82296" cy="82296"/>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570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5399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7228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9056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885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714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4543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372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200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0029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1858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A7179"/>
                </a:solidFill>
                <a:latin typeface="Arial"/>
              </a:rPr>
              <a:t>3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2A5CAA"/>
                </a:solidFill>
                <a:latin typeface="Arial"/>
              </a:rPr>
              <a:t>APPROACH</a:t>
            </a:r>
          </a:p>
        </p:txBody>
      </p:sp>
      <p:sp>
        <p:nvSpPr>
          <p:cNvPr id="4" name="TextBox 3"/>
          <p:cNvSpPr txBox="1"/>
          <p:nvPr/>
        </p:nvSpPr>
        <p:spPr>
          <a:xfrm>
            <a:off x="822960" y="868680"/>
            <a:ext cx="10515600" cy="548640"/>
          </a:xfrm>
          <a:prstGeom prst="rect">
            <a:avLst/>
          </a:prstGeom>
          <a:noFill/>
        </p:spPr>
        <p:txBody>
          <a:bodyPr wrap="square">
            <a:spAutoFit/>
          </a:bodyPr>
          <a:lstStyle/>
          <a:p>
            <a:pPr algn="l">
              <a:lnSpc>
                <a:spcPct val="110000"/>
              </a:lnSpc>
            </a:pPr>
            <a:r>
              <a:rPr sz="2700" b="1" i="0">
                <a:solidFill>
                  <a:srgbClr val="1A1A1A"/>
                </a:solidFill>
                <a:latin typeface="Arial"/>
              </a:rPr>
              <a:t>Three ways to turn text into numbers</a:t>
            </a:r>
          </a:p>
        </p:txBody>
      </p:sp>
      <p:sp>
        <p:nvSpPr>
          <p:cNvPr id="5" name="Rounded Rectangle 4"/>
          <p:cNvSpPr/>
          <p:nvPr/>
        </p:nvSpPr>
        <p:spPr>
          <a:xfrm>
            <a:off x="822960" y="1600200"/>
            <a:ext cx="3337560" cy="3200400"/>
          </a:xfrm>
          <a:prstGeom prst="roundRect">
            <a:avLst>
              <a:gd name="adj" fmla="val 45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wrap="square" lIns="347472" rIns="256032" tIns="228600" bIns="228600"/>
          <a:lstStyle/>
          <a:p>
            <a:pPr algn="ctr"/>
            <a:r>
              <a:rPr sz="2000" b="1">
                <a:solidFill>
                  <a:srgbClr val="B3261E"/>
                </a:solidFill>
                <a:latin typeface="Arial"/>
              </a:rPr>
              <a:t>LDA</a:t>
            </a:r>
          </a:p>
          <a:p>
            <a:pPr>
              <a:lnSpc>
                <a:spcPct val="115000"/>
              </a:lnSpc>
              <a:spcBef>
                <a:spcPts val="800"/>
              </a:spcBef>
            </a:pPr>
            <a:r>
              <a:rPr sz="1400">
                <a:solidFill>
                  <a:srgbClr val="4A5568"/>
                </a:solidFill>
                <a:latin typeface="Arial"/>
              </a:rPr>
              <a:t>Counts which words cluster together across all rulings (gensim, TF-IDF). No training beyond that — pure statistics.
2021-era paper default.</a:t>
            </a:r>
          </a:p>
        </p:txBody>
      </p:sp>
      <p:sp>
        <p:nvSpPr>
          <p:cNvPr id="6" name="Rounded Rectangle 5"/>
          <p:cNvSpPr/>
          <p:nvPr/>
        </p:nvSpPr>
        <p:spPr>
          <a:xfrm>
            <a:off x="932688" y="1728216"/>
            <a:ext cx="73152" cy="2944368"/>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1600200"/>
            <a:ext cx="457200" cy="4572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BFBF8"/>
                </a:solidFill>
                <a:latin typeface="Arial"/>
              </a:rPr>
              <a:t>Σ</a:t>
            </a:r>
          </a:p>
        </p:txBody>
      </p:sp>
      <p:sp>
        <p:nvSpPr>
          <p:cNvPr id="8" name="Rounded Rectangle 7"/>
          <p:cNvSpPr/>
          <p:nvPr/>
        </p:nvSpPr>
        <p:spPr>
          <a:xfrm>
            <a:off x="4434840" y="1600200"/>
            <a:ext cx="3337560" cy="3200400"/>
          </a:xfrm>
          <a:prstGeom prst="roundRect">
            <a:avLst>
              <a:gd name="adj" fmla="val 45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wrap="square" lIns="347471" rIns="256032" tIns="228600" bIns="228600"/>
          <a:lstStyle/>
          <a:p>
            <a:pPr algn="ctr"/>
            <a:r>
              <a:rPr sz="2000" b="1">
                <a:solidFill>
                  <a:srgbClr val="1E7A3D"/>
                </a:solidFill>
                <a:latin typeface="Arial"/>
              </a:rPr>
              <a:t>Doc2Vec</a:t>
            </a:r>
          </a:p>
          <a:p>
            <a:pPr>
              <a:lnSpc>
                <a:spcPct val="115000"/>
              </a:lnSpc>
              <a:spcBef>
                <a:spcPts val="800"/>
              </a:spcBef>
            </a:pPr>
            <a:r>
              <a:rPr sz="1400">
                <a:solidFill>
                  <a:srgbClr val="4A5568"/>
                </a:solidFill>
                <a:latin typeface="Arial"/>
              </a:rPr>
              <a:t>A small neural net learns a 50-number “fingerprint” per ruling, trained from scratch on our ~5,600 documents only.
The paper's other method.</a:t>
            </a:r>
          </a:p>
        </p:txBody>
      </p:sp>
      <p:sp>
        <p:nvSpPr>
          <p:cNvPr id="9" name="Rounded Rectangle 8"/>
          <p:cNvSpPr/>
          <p:nvPr/>
        </p:nvSpPr>
        <p:spPr>
          <a:xfrm>
            <a:off x="4544568" y="1728216"/>
            <a:ext cx="73152" cy="2944368"/>
          </a:xfrm>
          <a:prstGeom prst="roundRect">
            <a:avLst>
              <a:gd name="adj" fmla="val 50000"/>
            </a:avLst>
          </a:prstGeom>
          <a:solidFill>
            <a:srgbClr val="1E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34840" y="1600200"/>
            <a:ext cx="457200" cy="457200"/>
          </a:xfrm>
          <a:prstGeom prst="ellipse">
            <a:avLst/>
          </a:prstGeom>
          <a:solidFill>
            <a:srgbClr val="1E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BFBF8"/>
                </a:solidFill>
                <a:latin typeface="Arial"/>
              </a:rPr>
              <a:t>⌘</a:t>
            </a:r>
          </a:p>
        </p:txBody>
      </p:sp>
      <p:sp>
        <p:nvSpPr>
          <p:cNvPr id="11" name="Rounded Rectangle 10"/>
          <p:cNvSpPr/>
          <p:nvPr/>
        </p:nvSpPr>
        <p:spPr>
          <a:xfrm>
            <a:off x="7936992" y="1600200"/>
            <a:ext cx="3429000" cy="3200400"/>
          </a:xfrm>
          <a:prstGeom prst="roundRect">
            <a:avLst>
              <a:gd name="adj" fmla="val 45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wrap="square" lIns="347472" rIns="256032" tIns="228600" bIns="228600"/>
          <a:lstStyle/>
          <a:p>
            <a:pPr algn="ctr"/>
            <a:r>
              <a:rPr sz="2000" b="1">
                <a:solidFill>
                  <a:srgbClr val="2A5CAA"/>
                </a:solidFill>
                <a:latin typeface="Arial"/>
              </a:rPr>
              <a:t>SBERT</a:t>
            </a:r>
          </a:p>
          <a:p>
            <a:pPr>
              <a:lnSpc>
                <a:spcPct val="115000"/>
              </a:lnSpc>
              <a:spcBef>
                <a:spcPts val="800"/>
              </a:spcBef>
            </a:pPr>
            <a:r>
              <a:rPr sz="1400">
                <a:solidFill>
                  <a:srgbClr val="4A5568"/>
                </a:solidFill>
                <a:latin typeface="Arial"/>
              </a:rPr>
              <a:t>A modern transformer, pretrained on 1B+ sentence pairs before it ever sees our data. No training needed — just encode.
Our Phase 5 addition.</a:t>
            </a:r>
          </a:p>
        </p:txBody>
      </p:sp>
      <p:sp>
        <p:nvSpPr>
          <p:cNvPr id="12" name="Rounded Rectangle 11"/>
          <p:cNvSpPr/>
          <p:nvPr/>
        </p:nvSpPr>
        <p:spPr>
          <a:xfrm>
            <a:off x="8046719" y="1728216"/>
            <a:ext cx="73152" cy="2944368"/>
          </a:xfrm>
          <a:prstGeom prst="roundRect">
            <a:avLst>
              <a:gd name="adj" fmla="val 50000"/>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936992" y="1600200"/>
            <a:ext cx="457200" cy="457200"/>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BFBF8"/>
                </a:solidFill>
                <a:latin typeface="Arial"/>
              </a:rPr>
              <a:t>✨</a:t>
            </a:r>
          </a:p>
        </p:txBody>
      </p:sp>
      <p:sp>
        <p:nvSpPr>
          <p:cNvPr id="14" name="TextBox 13"/>
          <p:cNvSpPr txBox="1"/>
          <p:nvPr/>
        </p:nvSpPr>
        <p:spPr>
          <a:xfrm>
            <a:off x="822960" y="5074920"/>
            <a:ext cx="10241280" cy="548640"/>
          </a:xfrm>
          <a:prstGeom prst="rect">
            <a:avLst/>
          </a:prstGeom>
          <a:noFill/>
        </p:spPr>
        <p:txBody>
          <a:bodyPr wrap="square">
            <a:spAutoFit/>
          </a:bodyPr>
          <a:lstStyle/>
          <a:p>
            <a:pPr algn="l">
              <a:lnSpc>
                <a:spcPct val="110000"/>
              </a:lnSpc>
            </a:pPr>
            <a:r>
              <a:rPr sz="1250" b="0" i="0">
                <a:solidFill>
                  <a:srgbClr val="6A7179"/>
                </a:solidFill>
                <a:latin typeface="Arial"/>
              </a:rPr>
              <a:t>A fourth method (BERT fine-tuning) was in the original paper, but it ran out of memory there — no baseline to replicate.</a:t>
            </a:r>
          </a:p>
        </p:txBody>
      </p:sp>
      <p:sp>
        <p:nvSpPr>
          <p:cNvPr id="15" name="Oval 14"/>
          <p:cNvSpPr/>
          <p:nvPr/>
        </p:nvSpPr>
        <p:spPr>
          <a:xfrm>
            <a:off x="88084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9912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741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357055" y="6473952"/>
            <a:ext cx="82296" cy="82296"/>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399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228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9056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885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714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4543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8200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0029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1858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A7179"/>
                </a:solidFill>
                <a:latin typeface="Arial"/>
              </a:rPr>
              <a:t>4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2A5CAA"/>
                </a:solidFill>
                <a:latin typeface="Arial"/>
              </a:rPr>
              <a:t>PHASE 1 + 2 — REPLICATION &amp; FEATURE TUNING</a:t>
            </a:r>
          </a:p>
        </p:txBody>
      </p:sp>
      <p:sp>
        <p:nvSpPr>
          <p:cNvPr id="4" name="TextBox 3"/>
          <p:cNvSpPr txBox="1"/>
          <p:nvPr/>
        </p:nvSpPr>
        <p:spPr>
          <a:xfrm>
            <a:off x="822960" y="868680"/>
            <a:ext cx="10515600" cy="548640"/>
          </a:xfrm>
          <a:prstGeom prst="rect">
            <a:avLst/>
          </a:prstGeom>
          <a:noFill/>
        </p:spPr>
        <p:txBody>
          <a:bodyPr wrap="square">
            <a:spAutoFit/>
          </a:bodyPr>
          <a:lstStyle/>
          <a:p>
            <a:pPr algn="l">
              <a:lnSpc>
                <a:spcPct val="110000"/>
              </a:lnSpc>
            </a:pPr>
            <a:r>
              <a:rPr sz="2500" b="1" i="0">
                <a:solidFill>
                  <a:srgbClr val="1A1A1A"/>
                </a:solidFill>
                <a:latin typeface="Arial"/>
              </a:rPr>
              <a:t>Replicating the paper, then tuning its own settings</a:t>
            </a:r>
          </a:p>
        </p:txBody>
      </p:sp>
      <p:sp>
        <p:nvSpPr>
          <p:cNvPr id="5" name="TextBox 4"/>
          <p:cNvSpPr txBox="1"/>
          <p:nvPr/>
        </p:nvSpPr>
        <p:spPr>
          <a:xfrm>
            <a:off x="822960" y="1371600"/>
            <a:ext cx="4846320" cy="1188720"/>
          </a:xfrm>
          <a:prstGeom prst="rect">
            <a:avLst/>
          </a:prstGeom>
          <a:noFill/>
        </p:spPr>
        <p:txBody>
          <a:bodyPr wrap="square">
            <a:spAutoFit/>
          </a:bodyPr>
          <a:lstStyle/>
          <a:p>
            <a:pPr algn="l">
              <a:lnSpc>
                <a:spcPct val="130000"/>
              </a:lnSpc>
            </a:pPr>
            <a:r>
              <a:rPr sz="1400" b="0" i="0">
                <a:solidFill>
                  <a:srgbClr val="4A5568"/>
                </a:solidFill>
                <a:latin typeface="Arial"/>
              </a:rPr>
              <a:t>The paper's Doc2Vec+LR, trained with its default settings, then with LDA's topic count and Doc2Vec's vector size tuned on dev only.</a:t>
            </a:r>
          </a:p>
        </p:txBody>
      </p:sp>
      <p:sp>
        <p:nvSpPr>
          <p:cNvPr id="6" name="Rounded Rectangle 5"/>
          <p:cNvSpPr/>
          <p:nvPr/>
        </p:nvSpPr>
        <p:spPr>
          <a:xfrm>
            <a:off x="822960" y="2514600"/>
            <a:ext cx="2286000" cy="1371600"/>
          </a:xfrm>
          <a:prstGeom prst="roundRect">
            <a:avLst>
              <a:gd name="adj" fmla="val 60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34056"/>
            <a:ext cx="2286000" cy="685800"/>
          </a:xfrm>
          <a:prstGeom prst="rect">
            <a:avLst/>
          </a:prstGeom>
          <a:noFill/>
        </p:spPr>
        <p:txBody>
          <a:bodyPr wrap="square">
            <a:spAutoFit/>
          </a:bodyPr>
          <a:lstStyle/>
          <a:p>
            <a:pPr algn="ctr">
              <a:lnSpc>
                <a:spcPct val="110000"/>
              </a:lnSpc>
            </a:pPr>
            <a:r>
              <a:rPr sz="3400" b="1" i="0">
                <a:solidFill>
                  <a:srgbClr val="8A8F98"/>
                </a:solidFill>
                <a:latin typeface="Arial"/>
              </a:rPr>
              <a:t>59.1%</a:t>
            </a:r>
          </a:p>
        </p:txBody>
      </p:sp>
      <p:sp>
        <p:nvSpPr>
          <p:cNvPr id="8" name="TextBox 7"/>
          <p:cNvSpPr txBox="1"/>
          <p:nvPr/>
        </p:nvSpPr>
        <p:spPr>
          <a:xfrm>
            <a:off x="932688" y="3364991"/>
            <a:ext cx="2066543" cy="480059"/>
          </a:xfrm>
          <a:prstGeom prst="rect">
            <a:avLst/>
          </a:prstGeom>
          <a:noFill/>
        </p:spPr>
        <p:txBody>
          <a:bodyPr wrap="square">
            <a:spAutoFit/>
          </a:bodyPr>
          <a:lstStyle/>
          <a:p>
            <a:pPr algn="ctr">
              <a:lnSpc>
                <a:spcPct val="115000"/>
              </a:lnSpc>
            </a:pPr>
            <a:r>
              <a:rPr sz="1250" b="0" i="0">
                <a:solidFill>
                  <a:srgbClr val="4A5568"/>
                </a:solidFill>
                <a:latin typeface="Arial"/>
              </a:rPr>
              <a:t>Phase 1
paper defaults</a:t>
            </a:r>
          </a:p>
        </p:txBody>
      </p:sp>
      <p:sp>
        <p:nvSpPr>
          <p:cNvPr id="9" name="Rounded Rectangle 8"/>
          <p:cNvSpPr/>
          <p:nvPr/>
        </p:nvSpPr>
        <p:spPr>
          <a:xfrm>
            <a:off x="3383279" y="2514600"/>
            <a:ext cx="2286000" cy="1371600"/>
          </a:xfrm>
          <a:prstGeom prst="roundRect">
            <a:avLst>
              <a:gd name="adj" fmla="val 60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79" y="2734056"/>
            <a:ext cx="2286000" cy="685800"/>
          </a:xfrm>
          <a:prstGeom prst="rect">
            <a:avLst/>
          </a:prstGeom>
          <a:noFill/>
        </p:spPr>
        <p:txBody>
          <a:bodyPr wrap="square">
            <a:spAutoFit/>
          </a:bodyPr>
          <a:lstStyle/>
          <a:p>
            <a:pPr algn="ctr">
              <a:lnSpc>
                <a:spcPct val="110000"/>
              </a:lnSpc>
            </a:pPr>
            <a:r>
              <a:rPr sz="3400" b="1" i="0">
                <a:solidFill>
                  <a:srgbClr val="2A5CAA"/>
                </a:solidFill>
                <a:latin typeface="Arial"/>
              </a:rPr>
              <a:t>62.2%</a:t>
            </a:r>
          </a:p>
        </p:txBody>
      </p:sp>
      <p:sp>
        <p:nvSpPr>
          <p:cNvPr id="11" name="TextBox 10"/>
          <p:cNvSpPr txBox="1"/>
          <p:nvPr/>
        </p:nvSpPr>
        <p:spPr>
          <a:xfrm>
            <a:off x="3493008" y="3364991"/>
            <a:ext cx="2066543" cy="480059"/>
          </a:xfrm>
          <a:prstGeom prst="rect">
            <a:avLst/>
          </a:prstGeom>
          <a:noFill/>
        </p:spPr>
        <p:txBody>
          <a:bodyPr wrap="square">
            <a:spAutoFit/>
          </a:bodyPr>
          <a:lstStyle/>
          <a:p>
            <a:pPr algn="ctr">
              <a:lnSpc>
                <a:spcPct val="115000"/>
              </a:lnSpc>
            </a:pPr>
            <a:r>
              <a:rPr sz="1250" b="0" i="0">
                <a:solidFill>
                  <a:srgbClr val="4A5568"/>
                </a:solidFill>
                <a:latin typeface="Arial"/>
              </a:rPr>
              <a:t>Phase 2
tuned feature size</a:t>
            </a:r>
          </a:p>
        </p:txBody>
      </p:sp>
      <p:sp>
        <p:nvSpPr>
          <p:cNvPr id="12" name="TextBox 11"/>
          <p:cNvSpPr txBox="1"/>
          <p:nvPr/>
        </p:nvSpPr>
        <p:spPr>
          <a:xfrm>
            <a:off x="822960" y="4114800"/>
            <a:ext cx="4846320" cy="1463040"/>
          </a:xfrm>
          <a:prstGeom prst="rect">
            <a:avLst/>
          </a:prstGeom>
          <a:noFill/>
        </p:spPr>
        <p:txBody>
          <a:bodyPr wrap="square">
            <a:spAutoFit/>
          </a:bodyPr>
          <a:lstStyle/>
          <a:p>
            <a:pPr algn="l">
              <a:lnSpc>
                <a:spcPct val="130000"/>
              </a:lnSpc>
            </a:pPr>
            <a:r>
              <a:rPr sz="1300" b="0" i="0">
                <a:solidFill>
                  <a:srgbClr val="4A5568"/>
                </a:solidFill>
                <a:latin typeface="Arial"/>
              </a:rPr>
              <a:t>LDA needed more topics (50→100) to separate 15+ categories. Doc2Vec preferred a smaller fingerprint (100→50) — with ~5,600 training rulings, bigger vectors just overfit.</a:t>
            </a:r>
          </a:p>
        </p:txBody>
      </p:sp>
      <p:pic>
        <p:nvPicPr>
          <p:cNvPr id="13" name="Picture 12" descr="before_after_tuning.png"/>
          <p:cNvPicPr>
            <a:picLocks noChangeAspect="1"/>
          </p:cNvPicPr>
          <p:nvPr/>
        </p:nvPicPr>
        <p:blipFill>
          <a:blip r:embed="rId2"/>
          <a:stretch>
            <a:fillRect/>
          </a:stretch>
        </p:blipFill>
        <p:spPr>
          <a:xfrm>
            <a:off x="6035040" y="1600200"/>
            <a:ext cx="5394960" cy="2997200"/>
          </a:xfrm>
          <a:prstGeom prst="rect">
            <a:avLst/>
          </a:prstGeom>
        </p:spPr>
      </p:pic>
      <p:sp>
        <p:nvSpPr>
          <p:cNvPr id="14" name="Oval 13"/>
          <p:cNvSpPr/>
          <p:nvPr/>
        </p:nvSpPr>
        <p:spPr>
          <a:xfrm>
            <a:off x="88084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9912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741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3570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539935" y="6473952"/>
            <a:ext cx="82296" cy="82296"/>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228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9056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885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714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4543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8200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0029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858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A7179"/>
                </a:solidFill>
                <a:latin typeface="Arial"/>
              </a:rPr>
              <a:t>5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2A5CAA"/>
                </a:solidFill>
                <a:latin typeface="Arial"/>
              </a:rPr>
              <a:t>PHASE 3 — BEYOND THE PAPER</a:t>
            </a:r>
          </a:p>
        </p:txBody>
      </p:sp>
      <p:sp>
        <p:nvSpPr>
          <p:cNvPr id="4" name="TextBox 3"/>
          <p:cNvSpPr txBox="1"/>
          <p:nvPr/>
        </p:nvSpPr>
        <p:spPr>
          <a:xfrm>
            <a:off x="822960" y="868680"/>
            <a:ext cx="10515600" cy="548640"/>
          </a:xfrm>
          <a:prstGeom prst="rect">
            <a:avLst/>
          </a:prstGeom>
          <a:noFill/>
        </p:spPr>
        <p:txBody>
          <a:bodyPr wrap="square">
            <a:spAutoFit/>
          </a:bodyPr>
          <a:lstStyle/>
          <a:p>
            <a:pPr algn="l">
              <a:lnSpc>
                <a:spcPct val="110000"/>
              </a:lnSpc>
            </a:pPr>
            <a:r>
              <a:rPr sz="2600" b="1" i="0">
                <a:solidFill>
                  <a:srgbClr val="1A1A1A"/>
                </a:solidFill>
                <a:latin typeface="Arial"/>
              </a:rPr>
              <a:t>Same features, different classifier on top</a:t>
            </a:r>
          </a:p>
        </p:txBody>
      </p:sp>
      <p:sp>
        <p:nvSpPr>
          <p:cNvPr id="5" name="TextBox 4"/>
          <p:cNvSpPr txBox="1"/>
          <p:nvPr/>
        </p:nvSpPr>
        <p:spPr>
          <a:xfrm>
            <a:off x="822960" y="1417320"/>
            <a:ext cx="4937760" cy="822960"/>
          </a:xfrm>
          <a:prstGeom prst="rect">
            <a:avLst/>
          </a:prstGeom>
          <a:noFill/>
        </p:spPr>
        <p:txBody>
          <a:bodyPr wrap="square">
            <a:spAutoFit/>
          </a:bodyPr>
          <a:lstStyle/>
          <a:p>
            <a:pPr algn="l">
              <a:lnSpc>
                <a:spcPct val="130000"/>
              </a:lnSpc>
            </a:pPr>
            <a:r>
              <a:rPr sz="1400" b="0" i="0">
                <a:solidFill>
                  <a:srgbClr val="4A5568"/>
                </a:solidFill>
                <a:latin typeface="Arial"/>
              </a:rPr>
              <a:t>The paper only tries Logistic Regression. We also tried SVM, Random Forest, and Gaussian Naive Bayes — same Doc2Vec fingerprints, issue_area task.</a:t>
            </a:r>
          </a:p>
        </p:txBody>
      </p:sp>
      <p:sp>
        <p:nvSpPr>
          <p:cNvPr id="6" name="Rounded Rectangle 5"/>
          <p:cNvSpPr/>
          <p:nvPr/>
        </p:nvSpPr>
        <p:spPr>
          <a:xfrm>
            <a:off x="822960" y="2423160"/>
            <a:ext cx="2331720" cy="1463040"/>
          </a:xfrm>
          <a:prstGeom prst="roundRect">
            <a:avLst>
              <a:gd name="adj" fmla="val 60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657246"/>
            <a:ext cx="2331720" cy="731520"/>
          </a:xfrm>
          <a:prstGeom prst="rect">
            <a:avLst/>
          </a:prstGeom>
          <a:noFill/>
        </p:spPr>
        <p:txBody>
          <a:bodyPr wrap="square">
            <a:spAutoFit/>
          </a:bodyPr>
          <a:lstStyle/>
          <a:p>
            <a:pPr algn="ctr">
              <a:lnSpc>
                <a:spcPct val="110000"/>
              </a:lnSpc>
            </a:pPr>
            <a:r>
              <a:rPr sz="3400" b="1" i="0">
                <a:solidFill>
                  <a:srgbClr val="1E7A3D"/>
                </a:solidFill>
                <a:latin typeface="Arial"/>
              </a:rPr>
              <a:t>68.8%</a:t>
            </a:r>
          </a:p>
        </p:txBody>
      </p:sp>
      <p:sp>
        <p:nvSpPr>
          <p:cNvPr id="8" name="TextBox 7"/>
          <p:cNvSpPr txBox="1"/>
          <p:nvPr/>
        </p:nvSpPr>
        <p:spPr>
          <a:xfrm>
            <a:off x="932688" y="3330244"/>
            <a:ext cx="2112264" cy="512063"/>
          </a:xfrm>
          <a:prstGeom prst="rect">
            <a:avLst/>
          </a:prstGeom>
          <a:noFill/>
        </p:spPr>
        <p:txBody>
          <a:bodyPr wrap="square">
            <a:spAutoFit/>
          </a:bodyPr>
          <a:lstStyle/>
          <a:p>
            <a:pPr algn="ctr">
              <a:lnSpc>
                <a:spcPct val="115000"/>
              </a:lnSpc>
            </a:pPr>
            <a:r>
              <a:rPr sz="1250" b="0" i="0">
                <a:solidFill>
                  <a:srgbClr val="4A5568"/>
                </a:solidFill>
                <a:latin typeface="Arial"/>
              </a:rPr>
              <a:t>Winner: SVM (RBF)</a:t>
            </a:r>
          </a:p>
        </p:txBody>
      </p:sp>
      <p:sp>
        <p:nvSpPr>
          <p:cNvPr id="9" name="Rounded Rectangle 8"/>
          <p:cNvSpPr/>
          <p:nvPr/>
        </p:nvSpPr>
        <p:spPr>
          <a:xfrm>
            <a:off x="3429000" y="2423160"/>
            <a:ext cx="2331720" cy="1463040"/>
          </a:xfrm>
          <a:prstGeom prst="roundRect">
            <a:avLst>
              <a:gd name="adj" fmla="val 60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2657246"/>
            <a:ext cx="2331720" cy="731520"/>
          </a:xfrm>
          <a:prstGeom prst="rect">
            <a:avLst/>
          </a:prstGeom>
          <a:noFill/>
        </p:spPr>
        <p:txBody>
          <a:bodyPr wrap="square">
            <a:spAutoFit/>
          </a:bodyPr>
          <a:lstStyle/>
          <a:p>
            <a:pPr algn="ctr">
              <a:lnSpc>
                <a:spcPct val="110000"/>
              </a:lnSpc>
            </a:pPr>
            <a:r>
              <a:rPr sz="3400" b="1" i="0">
                <a:solidFill>
                  <a:srgbClr val="1E7A3D"/>
                </a:solidFill>
                <a:latin typeface="Arial"/>
              </a:rPr>
              <a:t>0.499</a:t>
            </a:r>
          </a:p>
        </p:txBody>
      </p:sp>
      <p:sp>
        <p:nvSpPr>
          <p:cNvPr id="11" name="TextBox 10"/>
          <p:cNvSpPr txBox="1"/>
          <p:nvPr/>
        </p:nvSpPr>
        <p:spPr>
          <a:xfrm>
            <a:off x="3538728" y="3330244"/>
            <a:ext cx="2112264" cy="512063"/>
          </a:xfrm>
          <a:prstGeom prst="rect">
            <a:avLst/>
          </a:prstGeom>
          <a:noFill/>
        </p:spPr>
        <p:txBody>
          <a:bodyPr wrap="square">
            <a:spAutoFit/>
          </a:bodyPr>
          <a:lstStyle/>
          <a:p>
            <a:pPr algn="ctr">
              <a:lnSpc>
                <a:spcPct val="115000"/>
              </a:lnSpc>
            </a:pPr>
            <a:r>
              <a:rPr sz="1250" b="0" i="0">
                <a:solidFill>
                  <a:srgbClr val="4A5568"/>
                </a:solidFill>
                <a:latin typeface="Arial"/>
              </a:rPr>
              <a:t>Macro-F1</a:t>
            </a:r>
          </a:p>
        </p:txBody>
      </p:sp>
      <p:sp>
        <p:nvSpPr>
          <p:cNvPr id="12" name="TextBox 11"/>
          <p:cNvSpPr txBox="1"/>
          <p:nvPr/>
        </p:nvSpPr>
        <p:spPr>
          <a:xfrm>
            <a:off x="822960" y="4206240"/>
            <a:ext cx="4937760" cy="1463040"/>
          </a:xfrm>
          <a:prstGeom prst="rect">
            <a:avLst/>
          </a:prstGeom>
          <a:noFill/>
        </p:spPr>
        <p:txBody>
          <a:bodyPr wrap="square">
            <a:spAutoFit/>
          </a:bodyPr>
          <a:lstStyle/>
          <a:p>
            <a:pPr algn="l">
              <a:lnSpc>
                <a:spcPct val="130000"/>
              </a:lnSpc>
            </a:pPr>
            <a:r>
              <a:rPr sz="1400" b="0" i="0">
                <a:solidFill>
                  <a:srgbClr val="4A5568"/>
                </a:solidFill>
                <a:latin typeface="Arial"/>
              </a:rPr>
              <a:t>SVM wins — its RBF kernel draws a curved decision boundary through the embedding space that straight-line Logistic Regression can't match.</a:t>
            </a:r>
          </a:p>
        </p:txBody>
      </p:sp>
      <p:pic>
        <p:nvPicPr>
          <p:cNvPr id="13" name="Picture 12" descr="classifier_comparison.png"/>
          <p:cNvPicPr>
            <a:picLocks noChangeAspect="1"/>
          </p:cNvPicPr>
          <p:nvPr/>
        </p:nvPicPr>
        <p:blipFill>
          <a:blip r:embed="rId2"/>
          <a:stretch>
            <a:fillRect/>
          </a:stretch>
        </p:blipFill>
        <p:spPr>
          <a:xfrm>
            <a:off x="6035040" y="1600200"/>
            <a:ext cx="5394960" cy="2967228"/>
          </a:xfrm>
          <a:prstGeom prst="rect">
            <a:avLst/>
          </a:prstGeom>
        </p:spPr>
      </p:pic>
      <p:sp>
        <p:nvSpPr>
          <p:cNvPr id="14" name="Oval 13"/>
          <p:cNvSpPr/>
          <p:nvPr/>
        </p:nvSpPr>
        <p:spPr>
          <a:xfrm>
            <a:off x="88084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9912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741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3570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5399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22815" y="6473952"/>
            <a:ext cx="82296" cy="82296"/>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9056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885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714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4543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372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8200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0029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1858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A7179"/>
                </a:solidFill>
                <a:latin typeface="Arial"/>
              </a:rPr>
              <a:t>6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2A5CAA"/>
                </a:solidFill>
                <a:latin typeface="Arial"/>
              </a:rPr>
              <a:t>PHASE 4 — DEEP-TUNED SVM</a:t>
            </a:r>
          </a:p>
        </p:txBody>
      </p:sp>
      <p:sp>
        <p:nvSpPr>
          <p:cNvPr id="4" name="TextBox 3"/>
          <p:cNvSpPr txBox="1"/>
          <p:nvPr/>
        </p:nvSpPr>
        <p:spPr>
          <a:xfrm>
            <a:off x="822960" y="868680"/>
            <a:ext cx="10515600" cy="548640"/>
          </a:xfrm>
          <a:prstGeom prst="rect">
            <a:avLst/>
          </a:prstGeom>
          <a:noFill/>
        </p:spPr>
        <p:txBody>
          <a:bodyPr wrap="square">
            <a:spAutoFit/>
          </a:bodyPr>
          <a:lstStyle/>
          <a:p>
            <a:pPr algn="l">
              <a:lnSpc>
                <a:spcPct val="110000"/>
              </a:lnSpc>
            </a:pPr>
            <a:r>
              <a:rPr sz="2500" b="1" i="0">
                <a:solidFill>
                  <a:srgbClr val="1A1A1A"/>
                </a:solidFill>
                <a:latin typeface="Arial"/>
              </a:rPr>
              <a:t>A wider search finds a different kind of win</a:t>
            </a:r>
          </a:p>
        </p:txBody>
      </p:sp>
      <p:sp>
        <p:nvSpPr>
          <p:cNvPr id="5" name="TextBox 4"/>
          <p:cNvSpPr txBox="1"/>
          <p:nvPr/>
        </p:nvSpPr>
        <p:spPr>
          <a:xfrm>
            <a:off x="822960" y="1371600"/>
            <a:ext cx="10241280" cy="548640"/>
          </a:xfrm>
          <a:prstGeom prst="rect">
            <a:avLst/>
          </a:prstGeom>
          <a:noFill/>
        </p:spPr>
        <p:txBody>
          <a:bodyPr wrap="square">
            <a:spAutoFit/>
          </a:bodyPr>
          <a:lstStyle/>
          <a:p>
            <a:pPr algn="l">
              <a:lnSpc>
                <a:spcPct val="125000"/>
              </a:lnSpc>
            </a:pPr>
            <a:r>
              <a:rPr sz="1400" b="0" i="0">
                <a:solidFill>
                  <a:srgbClr val="4A5568"/>
                </a:solidFill>
                <a:latin typeface="Arial"/>
              </a:rPr>
              <a:t>Phase 3's SVM was still untuned. We grid-searched 40 kernel/C/gamma combinations on dev accuracy — the metric that actually matters for the deployed model.</a:t>
            </a:r>
          </a:p>
        </p:txBody>
      </p:sp>
      <p:pic>
        <p:nvPicPr>
          <p:cNvPr id="6" name="Picture 5" descr="phase4_before_after.png"/>
          <p:cNvPicPr>
            <a:picLocks noChangeAspect="1"/>
          </p:cNvPicPr>
          <p:nvPr/>
        </p:nvPicPr>
        <p:blipFill>
          <a:blip r:embed="rId2"/>
          <a:stretch>
            <a:fillRect/>
          </a:stretch>
        </p:blipFill>
        <p:spPr>
          <a:xfrm>
            <a:off x="3218688" y="1920240"/>
            <a:ext cx="5760720" cy="3520440"/>
          </a:xfrm>
          <a:prstGeom prst="rect">
            <a:avLst/>
          </a:prstGeom>
        </p:spPr>
      </p:pic>
      <p:sp>
        <p:nvSpPr>
          <p:cNvPr id="7" name="TextBox 6"/>
          <p:cNvSpPr txBox="1"/>
          <p:nvPr/>
        </p:nvSpPr>
        <p:spPr>
          <a:xfrm>
            <a:off x="822960" y="5715000"/>
            <a:ext cx="10607040" cy="502920"/>
          </a:xfrm>
          <a:prstGeom prst="rect">
            <a:avLst/>
          </a:prstGeom>
          <a:noFill/>
        </p:spPr>
        <p:txBody>
          <a:bodyPr wrap="square">
            <a:spAutoFit/>
          </a:bodyPr>
          <a:lstStyle/>
          <a:p>
            <a:pPr algn="ctr">
              <a:lnSpc>
                <a:spcPct val="120000"/>
              </a:lnSpc>
            </a:pPr>
            <a:r>
              <a:rPr sz="1250" b="0" i="0">
                <a:solidFill>
                  <a:srgbClr val="4A5568"/>
                </a:solidFill>
                <a:latin typeface="Arial"/>
              </a:rPr>
              <a:t>Winning config: kernel=poly, degree=3. Accuracy held flat (68.8%→68.5%, within noise for an ~850-example test set) while macro-F1 jumped (0.499→0.547).</a:t>
            </a:r>
          </a:p>
        </p:txBody>
      </p:sp>
      <p:sp>
        <p:nvSpPr>
          <p:cNvPr id="8" name="Oval 7"/>
          <p:cNvSpPr/>
          <p:nvPr/>
        </p:nvSpPr>
        <p:spPr>
          <a:xfrm>
            <a:off x="88084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912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741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3570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5399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7228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905695" y="6473952"/>
            <a:ext cx="82296" cy="82296"/>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885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4543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372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8200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029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1858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A7179"/>
                </a:solidFill>
                <a:latin typeface="Arial"/>
              </a:rPr>
              <a:t>7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2A5CAA"/>
                </a:solidFill>
                <a:latin typeface="Arial"/>
              </a:rPr>
              <a:t>PHASE 5 — PRETRAINED EMBEDDINGS</a:t>
            </a:r>
          </a:p>
        </p:txBody>
      </p:sp>
      <p:sp>
        <p:nvSpPr>
          <p:cNvPr id="4" name="TextBox 3"/>
          <p:cNvSpPr txBox="1"/>
          <p:nvPr/>
        </p:nvSpPr>
        <p:spPr>
          <a:xfrm>
            <a:off x="822960" y="868680"/>
            <a:ext cx="10515600" cy="548640"/>
          </a:xfrm>
          <a:prstGeom prst="rect">
            <a:avLst/>
          </a:prstGeom>
          <a:noFill/>
        </p:spPr>
        <p:txBody>
          <a:bodyPr wrap="square">
            <a:spAutoFit/>
          </a:bodyPr>
          <a:lstStyle/>
          <a:p>
            <a:pPr algn="l">
              <a:lnSpc>
                <a:spcPct val="110000"/>
              </a:lnSpc>
            </a:pPr>
            <a:r>
              <a:rPr sz="2400" b="1" i="0">
                <a:solidFill>
                  <a:srgbClr val="1A1A1A"/>
                </a:solidFill>
                <a:latin typeface="Arial"/>
              </a:rPr>
              <a:t>A pretrained model beats everything, with zero training</a:t>
            </a:r>
          </a:p>
        </p:txBody>
      </p:sp>
      <p:sp>
        <p:nvSpPr>
          <p:cNvPr id="5" name="TextBox 4"/>
          <p:cNvSpPr txBox="1"/>
          <p:nvPr/>
        </p:nvSpPr>
        <p:spPr>
          <a:xfrm>
            <a:off x="822960" y="1371600"/>
            <a:ext cx="10241280" cy="548640"/>
          </a:xfrm>
          <a:prstGeom prst="rect">
            <a:avLst/>
          </a:prstGeom>
          <a:noFill/>
        </p:spPr>
        <p:txBody>
          <a:bodyPr wrap="square">
            <a:spAutoFit/>
          </a:bodyPr>
          <a:lstStyle/>
          <a:p>
            <a:pPr algn="l">
              <a:lnSpc>
                <a:spcPct val="125000"/>
              </a:lnSpc>
            </a:pPr>
            <a:r>
              <a:rPr sz="1400" b="0" i="0">
                <a:solidFill>
                  <a:srgbClr val="4A5568"/>
                </a:solidFill>
                <a:latin typeface="Arial"/>
              </a:rPr>
              <a:t>Doc2Vec learns from scratch on just our ~5,600 documents. SBERT is pretrained on 1B+ sentence pairs before it ever sees a court opinion — we only use it to encode, never train.</a:t>
            </a:r>
          </a:p>
        </p:txBody>
      </p:sp>
      <p:pic>
        <p:nvPicPr>
          <p:cNvPr id="6" name="Picture 5" descr="sbert_vs_doc2vec.png"/>
          <p:cNvPicPr>
            <a:picLocks noChangeAspect="1"/>
          </p:cNvPicPr>
          <p:nvPr/>
        </p:nvPicPr>
        <p:blipFill>
          <a:blip r:embed="rId2"/>
          <a:stretch>
            <a:fillRect/>
          </a:stretch>
        </p:blipFill>
        <p:spPr>
          <a:xfrm>
            <a:off x="3081528" y="1920240"/>
            <a:ext cx="6035040" cy="3688080"/>
          </a:xfrm>
          <a:prstGeom prst="rect">
            <a:avLst/>
          </a:prstGeom>
        </p:spPr>
      </p:pic>
      <p:sp>
        <p:nvSpPr>
          <p:cNvPr id="7" name="TextBox 6"/>
          <p:cNvSpPr txBox="1"/>
          <p:nvPr/>
        </p:nvSpPr>
        <p:spPr>
          <a:xfrm>
            <a:off x="822960" y="5806440"/>
            <a:ext cx="10241280" cy="365760"/>
          </a:xfrm>
          <a:prstGeom prst="rect">
            <a:avLst/>
          </a:prstGeom>
          <a:noFill/>
        </p:spPr>
        <p:txBody>
          <a:bodyPr wrap="square">
            <a:spAutoFit/>
          </a:bodyPr>
          <a:lstStyle/>
          <a:p>
            <a:pPr algn="ctr">
              <a:lnSpc>
                <a:spcPct val="110000"/>
              </a:lnSpc>
            </a:pPr>
            <a:r>
              <a:rPr sz="1300" b="1" i="0">
                <a:solidFill>
                  <a:srgbClr val="1E7A3D"/>
                </a:solidFill>
                <a:latin typeface="Arial"/>
              </a:rPr>
              <a:t>SBERT + SVM: 70.1% accuracy — our new overall best, beating Phase 4's deep-tuned Doc2Vec SVM (68.5%).</a:t>
            </a:r>
          </a:p>
        </p:txBody>
      </p:sp>
      <p:sp>
        <p:nvSpPr>
          <p:cNvPr id="8" name="Oval 7"/>
          <p:cNvSpPr/>
          <p:nvPr/>
        </p:nvSpPr>
        <p:spPr>
          <a:xfrm>
            <a:off x="88084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912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741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3570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5399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7228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9056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88575" y="6473952"/>
            <a:ext cx="82296" cy="82296"/>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714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4543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372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8200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029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1858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A7179"/>
                </a:solidFill>
                <a:latin typeface="Arial"/>
              </a:rPr>
              <a:t>8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2A5CAA"/>
                </a:solidFill>
                <a:latin typeface="Arial"/>
              </a:rPr>
              <a:t>A CLOSER LOOK</a:t>
            </a:r>
          </a:p>
        </p:txBody>
      </p:sp>
      <p:sp>
        <p:nvSpPr>
          <p:cNvPr id="4" name="TextBox 3"/>
          <p:cNvSpPr txBox="1"/>
          <p:nvPr/>
        </p:nvSpPr>
        <p:spPr>
          <a:xfrm>
            <a:off x="822960" y="868680"/>
            <a:ext cx="10515600" cy="502920"/>
          </a:xfrm>
          <a:prstGeom prst="rect">
            <a:avLst/>
          </a:prstGeom>
          <a:noFill/>
        </p:spPr>
        <p:txBody>
          <a:bodyPr wrap="square">
            <a:spAutoFit/>
          </a:bodyPr>
          <a:lstStyle/>
          <a:p>
            <a:pPr algn="l">
              <a:lnSpc>
                <a:spcPct val="110000"/>
              </a:lnSpc>
            </a:pPr>
            <a:r>
              <a:rPr sz="2400" b="1" i="0">
                <a:solidFill>
                  <a:srgbClr val="1A1A1A"/>
                </a:solidFill>
                <a:latin typeface="Arial"/>
              </a:rPr>
              <a:t>Where the best model actually gets confused</a:t>
            </a:r>
          </a:p>
        </p:txBody>
      </p:sp>
      <p:pic>
        <p:nvPicPr>
          <p:cNvPr id="5" name="Picture 4" descr="confusion_matrix.png"/>
          <p:cNvPicPr>
            <a:picLocks noChangeAspect="1"/>
          </p:cNvPicPr>
          <p:nvPr/>
        </p:nvPicPr>
        <p:blipFill>
          <a:blip r:embed="rId2"/>
          <a:stretch>
            <a:fillRect/>
          </a:stretch>
        </p:blipFill>
        <p:spPr>
          <a:xfrm>
            <a:off x="3630168" y="1280160"/>
            <a:ext cx="4937760" cy="4389120"/>
          </a:xfrm>
          <a:prstGeom prst="rect">
            <a:avLst/>
          </a:prstGeom>
        </p:spPr>
      </p:pic>
      <p:sp>
        <p:nvSpPr>
          <p:cNvPr id="6" name="TextBox 5"/>
          <p:cNvSpPr txBox="1"/>
          <p:nvPr/>
        </p:nvSpPr>
        <p:spPr>
          <a:xfrm>
            <a:off x="822960" y="5806440"/>
            <a:ext cx="10607040" cy="320040"/>
          </a:xfrm>
          <a:prstGeom prst="rect">
            <a:avLst/>
          </a:prstGeom>
          <a:noFill/>
        </p:spPr>
        <p:txBody>
          <a:bodyPr wrap="square">
            <a:spAutoFit/>
          </a:bodyPr>
          <a:lstStyle/>
          <a:p>
            <a:pPr algn="ctr">
              <a:lnSpc>
                <a:spcPct val="110000"/>
              </a:lnSpc>
            </a:pPr>
            <a:r>
              <a:rPr sz="1100" b="0" i="0">
                <a:solidFill>
                  <a:srgbClr val="4A5568"/>
                </a:solidFill>
                <a:latin typeface="Arial"/>
              </a:rPr>
              <a:t>Rows = true category, columns = predicted — Economic Activity pulls in misclassifications from Judicial Power and Federalism.</a:t>
            </a:r>
          </a:p>
        </p:txBody>
      </p:sp>
      <p:sp>
        <p:nvSpPr>
          <p:cNvPr id="7" name="Oval 6"/>
          <p:cNvSpPr/>
          <p:nvPr/>
        </p:nvSpPr>
        <p:spPr>
          <a:xfrm>
            <a:off x="88084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912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741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3570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5399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7228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9056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6473952"/>
            <a:ext cx="82296" cy="82296"/>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543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6372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8200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029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1858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A7179"/>
                </a:solidFill>
                <a:latin typeface="Arial"/>
              </a:rPr>
              <a:t>9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2A5CAA"/>
                </a:solidFill>
                <a:latin typeface="Arial"/>
              </a:rPr>
              <a:t>ERROR ANALYSIS</a:t>
            </a:r>
          </a:p>
        </p:txBody>
      </p:sp>
      <p:sp>
        <p:nvSpPr>
          <p:cNvPr id="4" name="TextBox 3"/>
          <p:cNvSpPr txBox="1"/>
          <p:nvPr/>
        </p:nvSpPr>
        <p:spPr>
          <a:xfrm>
            <a:off x="822960" y="868680"/>
            <a:ext cx="10515600" cy="548640"/>
          </a:xfrm>
          <a:prstGeom prst="rect">
            <a:avLst/>
          </a:prstGeom>
          <a:noFill/>
        </p:spPr>
        <p:txBody>
          <a:bodyPr wrap="square">
            <a:spAutoFit/>
          </a:bodyPr>
          <a:lstStyle/>
          <a:p>
            <a:pPr algn="l">
              <a:lnSpc>
                <a:spcPct val="110000"/>
              </a:lnSpc>
            </a:pPr>
            <a:r>
              <a:rPr sz="2600" b="1" i="0">
                <a:solidFill>
                  <a:srgbClr val="1A1A1A"/>
                </a:solidFill>
                <a:latin typeface="Arial"/>
              </a:rPr>
              <a:t>What does a mistake actually look like?</a:t>
            </a:r>
          </a:p>
        </p:txBody>
      </p:sp>
      <p:sp>
        <p:nvSpPr>
          <p:cNvPr id="5" name="Rounded Rectangle 4"/>
          <p:cNvSpPr/>
          <p:nvPr/>
        </p:nvSpPr>
        <p:spPr>
          <a:xfrm>
            <a:off x="822960" y="1600200"/>
            <a:ext cx="5029200" cy="3566160"/>
          </a:xfrm>
          <a:prstGeom prst="roundRect">
            <a:avLst>
              <a:gd name="adj" fmla="val 45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wrap="square" lIns="347472" rIns="256032" tIns="228600" bIns="228600"/>
          <a:lstStyle/>
          <a:p>
            <a:pPr algn="ctr"/>
            <a:r>
              <a:rPr sz="2000" b="1">
                <a:solidFill>
                  <a:srgbClr val="B3261E"/>
                </a:solidFill>
                <a:latin typeface="Arial"/>
              </a:rPr>
              <a:t>A confident mistake</a:t>
            </a:r>
          </a:p>
          <a:p>
            <a:pPr>
              <a:lnSpc>
                <a:spcPct val="115000"/>
              </a:lnSpc>
              <a:spcBef>
                <a:spcPts val="800"/>
              </a:spcBef>
            </a:pPr>
            <a:r>
              <a:rPr sz="1400">
                <a:solidFill>
                  <a:srgbClr val="4A5568"/>
                </a:solidFill>
                <a:latin typeface="Arial"/>
              </a:rPr>
              <a:t>True category: Attorneys
Predicted: Federal Taxation (97%)
Excerpt: “...an assignment made by a subcontractor to his performance-bond surety of all sums to become due for performance of the subcontract, as security for any indebtedness...”
The case is about an attorney's fee dispute, but its surface language is dominated by bond/surety/payment terms — the model latched onto financial vocabulary over the deeper legal issue.</a:t>
            </a:r>
          </a:p>
        </p:txBody>
      </p:sp>
      <p:sp>
        <p:nvSpPr>
          <p:cNvPr id="6" name="Rounded Rectangle 5"/>
          <p:cNvSpPr/>
          <p:nvPr/>
        </p:nvSpPr>
        <p:spPr>
          <a:xfrm>
            <a:off x="932688" y="1728216"/>
            <a:ext cx="73152" cy="3310128"/>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035040" y="1600200"/>
            <a:ext cx="5120640" cy="3566160"/>
          </a:xfrm>
          <a:prstGeom prst="roundRect">
            <a:avLst>
              <a:gd name="adj" fmla="val 4500"/>
            </a:avLst>
          </a:prstGeom>
          <a:solidFill>
            <a:srgbClr val="FFFFFF"/>
          </a:solidFill>
          <a:ln w="12700">
            <a:solidFill>
              <a:srgbClr val="E3E6E4"/>
            </a:solidFill>
          </a:ln>
          <a:effectLst/>
        </p:spPr>
        <p:style>
          <a:lnRef idx="1">
            <a:schemeClr val="accent1"/>
          </a:lnRef>
          <a:fillRef idx="3">
            <a:schemeClr val="accent1"/>
          </a:fillRef>
          <a:effectRef idx="2">
            <a:schemeClr val="accent1"/>
          </a:effectRef>
          <a:fontRef idx="minor">
            <a:schemeClr val="lt1"/>
          </a:fontRef>
        </p:style>
        <p:txBody>
          <a:bodyPr rtlCol="0" anchor="ctr" wrap="square" lIns="347471" rIns="256032" tIns="228600" bIns="228600"/>
          <a:lstStyle/>
          <a:p>
            <a:pPr algn="ctr"/>
            <a:r>
              <a:rPr sz="2000" b="1">
                <a:solidFill>
                  <a:srgbClr val="1E7A3D"/>
                </a:solidFill>
                <a:latin typeface="Arial"/>
              </a:rPr>
              <a:t>A clear correct call</a:t>
            </a:r>
          </a:p>
          <a:p>
            <a:pPr>
              <a:lnSpc>
                <a:spcPct val="115000"/>
              </a:lnSpc>
              <a:spcBef>
                <a:spcPts val="800"/>
              </a:spcBef>
            </a:pPr>
            <a:r>
              <a:rPr sz="1400">
                <a:solidFill>
                  <a:srgbClr val="4A5568"/>
                </a:solidFill>
                <a:latin typeface="Arial"/>
              </a:rPr>
              <a:t>True category: Unions
Predicted: Unions (50%)
Excerpt: “...the Secretary of Labor sued under §402(b) of the Labor-Management Reporting and Disclosure Act to invalidate a union election...”
Explicit, unambiguous labor-law vocabulary (Secretary of Labor, union election, Labor-Management Act) gives the model a clean, confident signal to work with.</a:t>
            </a:r>
          </a:p>
        </p:txBody>
      </p:sp>
      <p:sp>
        <p:nvSpPr>
          <p:cNvPr id="8" name="Rounded Rectangle 7"/>
          <p:cNvSpPr/>
          <p:nvPr/>
        </p:nvSpPr>
        <p:spPr>
          <a:xfrm>
            <a:off x="6144768" y="1728216"/>
            <a:ext cx="73152" cy="3310128"/>
          </a:xfrm>
          <a:prstGeom prst="roundRect">
            <a:avLst>
              <a:gd name="adj" fmla="val 50000"/>
            </a:avLst>
          </a:prstGeom>
          <a:solidFill>
            <a:srgbClr val="1E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394960"/>
            <a:ext cx="10241280" cy="640080"/>
          </a:xfrm>
          <a:prstGeom prst="rect">
            <a:avLst/>
          </a:prstGeom>
          <a:noFill/>
        </p:spPr>
        <p:txBody>
          <a:bodyPr wrap="square">
            <a:spAutoFit/>
          </a:bodyPr>
          <a:lstStyle/>
          <a:p>
            <a:pPr algn="l">
              <a:lnSpc>
                <a:spcPct val="125000"/>
              </a:lnSpc>
            </a:pPr>
            <a:r>
              <a:rPr sz="1300" b="0" i="0">
                <a:solidFill>
                  <a:srgbClr val="4A5568"/>
                </a:solidFill>
                <a:latin typeface="Arial"/>
              </a:rPr>
              <a:t>The pattern: the model reads surface vocabulary, not legal reasoning — it does well when a case's language matches its category, and struggles when the real legal issue is buried under financial or procedural detail.</a:t>
            </a:r>
          </a:p>
        </p:txBody>
      </p:sp>
      <p:sp>
        <p:nvSpPr>
          <p:cNvPr id="10" name="Oval 9"/>
          <p:cNvSpPr/>
          <p:nvPr/>
        </p:nvSpPr>
        <p:spPr>
          <a:xfrm>
            <a:off x="88084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9912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741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570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5399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228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9056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885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6473952"/>
            <a:ext cx="82296" cy="82296"/>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6372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8200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0029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1858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A7179"/>
                </a:solidFill>
                <a:latin typeface="Arial"/>
              </a:rPr>
              <a:t>10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2A5CAA"/>
                </a:solidFill>
                <a:latin typeface="Arial"/>
              </a:rPr>
              <a:t>A CLOSER LOOK</a:t>
            </a:r>
          </a:p>
        </p:txBody>
      </p:sp>
      <p:sp>
        <p:nvSpPr>
          <p:cNvPr id="4" name="TextBox 3"/>
          <p:cNvSpPr txBox="1"/>
          <p:nvPr/>
        </p:nvSpPr>
        <p:spPr>
          <a:xfrm>
            <a:off x="822960" y="868680"/>
            <a:ext cx="10515600" cy="548640"/>
          </a:xfrm>
          <a:prstGeom prst="rect">
            <a:avLst/>
          </a:prstGeom>
          <a:noFill/>
        </p:spPr>
        <p:txBody>
          <a:bodyPr wrap="square">
            <a:spAutoFit/>
          </a:bodyPr>
          <a:lstStyle/>
          <a:p>
            <a:pPr algn="l">
              <a:lnSpc>
                <a:spcPct val="110000"/>
              </a:lnSpc>
            </a:pPr>
            <a:r>
              <a:rPr sz="2500" b="1" i="0">
                <a:solidFill>
                  <a:srgbClr val="1A1A1A"/>
                </a:solidFill>
                <a:latin typeface="Arial"/>
              </a:rPr>
              <a:t>LDA guesses the majority class. Doc2Vec doesn't.</a:t>
            </a:r>
          </a:p>
        </p:txBody>
      </p:sp>
      <p:pic>
        <p:nvPicPr>
          <p:cNvPr id="5" name="Picture 4" descr="per_category_f1.png"/>
          <p:cNvPicPr>
            <a:picLocks noChangeAspect="1"/>
          </p:cNvPicPr>
          <p:nvPr/>
        </p:nvPicPr>
        <p:blipFill>
          <a:blip r:embed="rId2"/>
          <a:stretch>
            <a:fillRect/>
          </a:stretch>
        </p:blipFill>
        <p:spPr>
          <a:xfrm>
            <a:off x="1984248" y="1417320"/>
            <a:ext cx="8229600" cy="4114800"/>
          </a:xfrm>
          <a:prstGeom prst="rect">
            <a:avLst/>
          </a:prstGeom>
        </p:spPr>
      </p:pic>
      <p:sp>
        <p:nvSpPr>
          <p:cNvPr id="6" name="Rounded Rectangle 5"/>
          <p:cNvSpPr/>
          <p:nvPr/>
        </p:nvSpPr>
        <p:spPr>
          <a:xfrm>
            <a:off x="1188720" y="5715000"/>
            <a:ext cx="201168" cy="201168"/>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5641848"/>
            <a:ext cx="4572000" cy="365760"/>
          </a:xfrm>
          <a:prstGeom prst="rect">
            <a:avLst/>
          </a:prstGeom>
          <a:noFill/>
        </p:spPr>
        <p:txBody>
          <a:bodyPr wrap="square">
            <a:spAutoFit/>
          </a:bodyPr>
          <a:lstStyle/>
          <a:p>
            <a:pPr algn="l">
              <a:lnSpc>
                <a:spcPct val="110000"/>
              </a:lnSpc>
            </a:pPr>
            <a:r>
              <a:rPr sz="1200" b="0" i="0">
                <a:solidFill>
                  <a:srgbClr val="4A5568"/>
                </a:solidFill>
                <a:latin typeface="Arial"/>
              </a:rPr>
              <a:t>LDA — collapses on rare categories (near-0 F1 on Privacy, Attorneys)</a:t>
            </a:r>
          </a:p>
        </p:txBody>
      </p:sp>
      <p:sp>
        <p:nvSpPr>
          <p:cNvPr id="8" name="Rounded Rectangle 7"/>
          <p:cNvSpPr/>
          <p:nvPr/>
        </p:nvSpPr>
        <p:spPr>
          <a:xfrm>
            <a:off x="6400800" y="5715000"/>
            <a:ext cx="201168" cy="201168"/>
          </a:xfrm>
          <a:prstGeom prst="roundRect">
            <a:avLst>
              <a:gd name="adj" fmla="val 50000"/>
            </a:avLst>
          </a:prstGeom>
          <a:solidFill>
            <a:srgbClr val="1E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20840" y="5641848"/>
            <a:ext cx="4572000" cy="365760"/>
          </a:xfrm>
          <a:prstGeom prst="rect">
            <a:avLst/>
          </a:prstGeom>
          <a:noFill/>
        </p:spPr>
        <p:txBody>
          <a:bodyPr wrap="square">
            <a:spAutoFit/>
          </a:bodyPr>
          <a:lstStyle/>
          <a:p>
            <a:pPr algn="l">
              <a:lnSpc>
                <a:spcPct val="110000"/>
              </a:lnSpc>
            </a:pPr>
            <a:r>
              <a:rPr sz="1200" b="0" i="0">
                <a:solidFill>
                  <a:srgbClr val="4A5568"/>
                </a:solidFill>
                <a:latin typeface="Arial"/>
              </a:rPr>
              <a:t>Doc2Vec — far more balanced across all 13 categories</a:t>
            </a:r>
          </a:p>
        </p:txBody>
      </p:sp>
      <p:sp>
        <p:nvSpPr>
          <p:cNvPr id="10" name="Oval 9"/>
          <p:cNvSpPr/>
          <p:nvPr/>
        </p:nvSpPr>
        <p:spPr>
          <a:xfrm>
            <a:off x="88084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9912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741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570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5399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228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9056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885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714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4543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637215" y="6473952"/>
            <a:ext cx="82296" cy="82296"/>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8200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0029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1858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A7179"/>
                </a:solidFill>
                <a:latin typeface="Arial"/>
              </a:rPr>
              <a:t>11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2A5CAA"/>
                </a:solidFill>
                <a:latin typeface="Arial"/>
              </a:rPr>
              <a:t>PUTTING IT TOGETHER</a:t>
            </a:r>
          </a:p>
        </p:txBody>
      </p:sp>
      <p:sp>
        <p:nvSpPr>
          <p:cNvPr id="4" name="TextBox 3"/>
          <p:cNvSpPr txBox="1"/>
          <p:nvPr/>
        </p:nvSpPr>
        <p:spPr>
          <a:xfrm>
            <a:off x="822960" y="868680"/>
            <a:ext cx="10515600" cy="822960"/>
          </a:xfrm>
          <a:prstGeom prst="rect">
            <a:avLst/>
          </a:prstGeom>
          <a:noFill/>
        </p:spPr>
        <p:txBody>
          <a:bodyPr wrap="square">
            <a:spAutoFit/>
          </a:bodyPr>
          <a:lstStyle/>
          <a:p>
            <a:pPr algn="l">
              <a:lnSpc>
                <a:spcPct val="110000"/>
              </a:lnSpc>
            </a:pPr>
            <a:r>
              <a:rPr sz="2800" b="1" i="0">
                <a:solidFill>
                  <a:srgbClr val="1A1A1A"/>
                </a:solidFill>
                <a:latin typeface="Arial"/>
              </a:rPr>
              <a:t>Each phase pushed the best model further</a:t>
            </a:r>
          </a:p>
        </p:txBody>
      </p:sp>
      <p:pic>
        <p:nvPicPr>
          <p:cNvPr id="5" name="Picture 4" descr="progress_by_phase.png"/>
          <p:cNvPicPr>
            <a:picLocks noChangeAspect="1"/>
          </p:cNvPicPr>
          <p:nvPr/>
        </p:nvPicPr>
        <p:blipFill>
          <a:blip r:embed="rId2"/>
          <a:stretch>
            <a:fillRect/>
          </a:stretch>
        </p:blipFill>
        <p:spPr>
          <a:xfrm>
            <a:off x="2898648" y="1463040"/>
            <a:ext cx="6400800" cy="3911600"/>
          </a:xfrm>
          <a:prstGeom prst="rect">
            <a:avLst/>
          </a:prstGeom>
        </p:spPr>
      </p:pic>
      <p:sp>
        <p:nvSpPr>
          <p:cNvPr id="6" name="TextBox 5"/>
          <p:cNvSpPr txBox="1"/>
          <p:nvPr/>
        </p:nvSpPr>
        <p:spPr>
          <a:xfrm>
            <a:off x="822960" y="5623560"/>
            <a:ext cx="10241280" cy="411480"/>
          </a:xfrm>
          <a:prstGeom prst="rect">
            <a:avLst/>
          </a:prstGeom>
          <a:noFill/>
        </p:spPr>
        <p:txBody>
          <a:bodyPr wrap="square">
            <a:spAutoFit/>
          </a:bodyPr>
          <a:lstStyle/>
          <a:p>
            <a:pPr algn="ctr">
              <a:lnSpc>
                <a:spcPct val="110000"/>
              </a:lnSpc>
            </a:pPr>
            <a:r>
              <a:rPr sz="1400" b="0" i="1">
                <a:solidFill>
                  <a:srgbClr val="4A5568"/>
                </a:solidFill>
                <a:latin typeface="Arial"/>
              </a:rPr>
              <a:t>From 59.1% (paper's default) to 70.1% (SBERT) — without ever touching the dataset itself.</a:t>
            </a:r>
          </a:p>
        </p:txBody>
      </p:sp>
      <p:sp>
        <p:nvSpPr>
          <p:cNvPr id="7" name="Oval 6"/>
          <p:cNvSpPr/>
          <p:nvPr/>
        </p:nvSpPr>
        <p:spPr>
          <a:xfrm>
            <a:off x="88084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912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741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3570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5399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7228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9056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885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714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543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6372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820095" y="6473952"/>
            <a:ext cx="82296" cy="82296"/>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029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1858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A7179"/>
                </a:solidFill>
                <a:latin typeface="Arial"/>
              </a:rPr>
              <a:t>12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2A5CAA"/>
                </a:solidFill>
                <a:latin typeface="Arial"/>
              </a:rPr>
              <a:t>LIMITATIONS &amp; FUTURE WORK</a:t>
            </a:r>
          </a:p>
        </p:txBody>
      </p:sp>
      <p:sp>
        <p:nvSpPr>
          <p:cNvPr id="4" name="TextBox 3"/>
          <p:cNvSpPr txBox="1"/>
          <p:nvPr/>
        </p:nvSpPr>
        <p:spPr>
          <a:xfrm>
            <a:off x="822960" y="868680"/>
            <a:ext cx="10515600" cy="548640"/>
          </a:xfrm>
          <a:prstGeom prst="rect">
            <a:avLst/>
          </a:prstGeom>
          <a:noFill/>
        </p:spPr>
        <p:txBody>
          <a:bodyPr wrap="square">
            <a:spAutoFit/>
          </a:bodyPr>
          <a:lstStyle/>
          <a:p>
            <a:pPr algn="l">
              <a:lnSpc>
                <a:spcPct val="110000"/>
              </a:lnSpc>
            </a:pPr>
            <a:r>
              <a:rPr sz="2700" b="1" i="0">
                <a:solidFill>
                  <a:srgbClr val="1A1A1A"/>
                </a:solidFill>
                <a:latin typeface="Arial"/>
              </a:rPr>
              <a:t>What we'd do with more time</a:t>
            </a:r>
          </a:p>
        </p:txBody>
      </p:sp>
      <p:sp>
        <p:nvSpPr>
          <p:cNvPr id="5" name="Oval 4"/>
          <p:cNvSpPr/>
          <p:nvPr/>
        </p:nvSpPr>
        <p:spPr>
          <a:xfrm>
            <a:off x="822960" y="1645920"/>
            <a:ext cx="292608" cy="292608"/>
          </a:xfrm>
          <a:prstGeom prst="ellipse">
            <a:avLst/>
          </a:prstGeom>
          <a:solidFill>
            <a:srgbClr val="F5C6B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6" name="TextBox 5"/>
          <p:cNvSpPr txBox="1"/>
          <p:nvPr/>
        </p:nvSpPr>
        <p:spPr>
          <a:xfrm>
            <a:off x="1280160" y="1618488"/>
            <a:ext cx="9784080" cy="658368"/>
          </a:xfrm>
          <a:prstGeom prst="rect">
            <a:avLst/>
          </a:prstGeom>
          <a:noFill/>
        </p:spPr>
        <p:txBody>
          <a:bodyPr wrap="square">
            <a:spAutoFit/>
          </a:bodyPr>
          <a:lstStyle/>
          <a:p>
            <a:pPr algn="l">
              <a:lnSpc>
                <a:spcPct val="115000"/>
              </a:lnSpc>
            </a:pPr>
            <a:r>
              <a:rPr sz="1550" b="0" i="0">
                <a:solidFill>
                  <a:srgbClr val="1A1A1A"/>
                </a:solidFill>
                <a:latin typeface="Arial"/>
              </a:rPr>
              <a:t>4,000-character truncation loses most of each opinion (median length: ~34,000 characters)</a:t>
            </a:r>
          </a:p>
        </p:txBody>
      </p:sp>
      <p:sp>
        <p:nvSpPr>
          <p:cNvPr id="7" name="Oval 6"/>
          <p:cNvSpPr/>
          <p:nvPr/>
        </p:nvSpPr>
        <p:spPr>
          <a:xfrm>
            <a:off x="822960" y="2304288"/>
            <a:ext cx="292608" cy="292608"/>
          </a:xfrm>
          <a:prstGeom prst="ellipse">
            <a:avLst/>
          </a:prstGeom>
          <a:solidFill>
            <a:srgbClr val="F5C6B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8" name="TextBox 7"/>
          <p:cNvSpPr txBox="1"/>
          <p:nvPr/>
        </p:nvSpPr>
        <p:spPr>
          <a:xfrm>
            <a:off x="1280160" y="2276856"/>
            <a:ext cx="9784080" cy="658368"/>
          </a:xfrm>
          <a:prstGeom prst="rect">
            <a:avLst/>
          </a:prstGeom>
          <a:noFill/>
        </p:spPr>
        <p:txBody>
          <a:bodyPr wrap="square">
            <a:spAutoFit/>
          </a:bodyPr>
          <a:lstStyle/>
          <a:p>
            <a:pPr algn="l">
              <a:lnSpc>
                <a:spcPct val="115000"/>
              </a:lnSpc>
            </a:pPr>
            <a:r>
              <a:rPr sz="1550" b="0" i="0">
                <a:solidFill>
                  <a:srgbClr val="1A1A1A"/>
                </a:solidFill>
                <a:latin typeface="Arial"/>
              </a:rPr>
              <a:t>Fine-grained 'issue' task (260+ classes) is still weak everywhere we tried — ~40-48% accuracy at best</a:t>
            </a:r>
          </a:p>
        </p:txBody>
      </p:sp>
      <p:sp>
        <p:nvSpPr>
          <p:cNvPr id="9" name="Oval 8"/>
          <p:cNvSpPr/>
          <p:nvPr/>
        </p:nvSpPr>
        <p:spPr>
          <a:xfrm>
            <a:off x="822960" y="2962656"/>
            <a:ext cx="292608" cy="292608"/>
          </a:xfrm>
          <a:prstGeom prst="ellipse">
            <a:avLst/>
          </a:prstGeom>
          <a:solidFill>
            <a:srgbClr val="F5C6B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10" name="TextBox 9"/>
          <p:cNvSpPr txBox="1"/>
          <p:nvPr/>
        </p:nvSpPr>
        <p:spPr>
          <a:xfrm>
            <a:off x="1280160" y="2935224"/>
            <a:ext cx="9784080" cy="658368"/>
          </a:xfrm>
          <a:prstGeom prst="rect">
            <a:avLst/>
          </a:prstGeom>
          <a:noFill/>
        </p:spPr>
        <p:txBody>
          <a:bodyPr wrap="square">
            <a:spAutoFit/>
          </a:bodyPr>
          <a:lstStyle/>
          <a:p>
            <a:pPr algn="l">
              <a:lnSpc>
                <a:spcPct val="115000"/>
              </a:lnSpc>
            </a:pPr>
            <a:r>
              <a:rPr sz="1550" b="0" i="0">
                <a:solidFill>
                  <a:srgbClr val="1A1A1A"/>
                </a:solidFill>
                <a:latin typeface="Arial"/>
              </a:rPr>
              <a:t>Single train/dev/test split — no cross-validation, so small accuracy differences carry real uncertainty</a:t>
            </a:r>
          </a:p>
        </p:txBody>
      </p:sp>
      <p:sp>
        <p:nvSpPr>
          <p:cNvPr id="11" name="Oval 10"/>
          <p:cNvSpPr/>
          <p:nvPr/>
        </p:nvSpPr>
        <p:spPr>
          <a:xfrm>
            <a:off x="822960" y="3621024"/>
            <a:ext cx="292608" cy="292608"/>
          </a:xfrm>
          <a:prstGeom prst="ellipse">
            <a:avLst/>
          </a:prstGeom>
          <a:solidFill>
            <a:srgbClr val="F5C6B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12" name="TextBox 11"/>
          <p:cNvSpPr txBox="1"/>
          <p:nvPr/>
        </p:nvSpPr>
        <p:spPr>
          <a:xfrm>
            <a:off x="1280160" y="3593592"/>
            <a:ext cx="9784080" cy="658368"/>
          </a:xfrm>
          <a:prstGeom prst="rect">
            <a:avLst/>
          </a:prstGeom>
          <a:noFill/>
        </p:spPr>
        <p:txBody>
          <a:bodyPr wrap="square">
            <a:spAutoFit/>
          </a:bodyPr>
          <a:lstStyle/>
          <a:p>
            <a:pPr algn="l">
              <a:lnSpc>
                <a:spcPct val="115000"/>
              </a:lnSpc>
            </a:pPr>
            <a:r>
              <a:rPr sz="1550" b="0" i="0">
                <a:solidFill>
                  <a:srgbClr val="1A1A1A"/>
                </a:solidFill>
                <a:latin typeface="Arial"/>
              </a:rPr>
              <a:t>BERT fine-tuning (vs. SBERT's frozen embeddings) could push further, if memory/compute allow</a:t>
            </a:r>
          </a:p>
        </p:txBody>
      </p:sp>
      <p:sp>
        <p:nvSpPr>
          <p:cNvPr id="13" name="Oval 12"/>
          <p:cNvSpPr/>
          <p:nvPr/>
        </p:nvSpPr>
        <p:spPr>
          <a:xfrm>
            <a:off x="822960" y="4279392"/>
            <a:ext cx="292608" cy="292608"/>
          </a:xfrm>
          <a:prstGeom prst="ellipse">
            <a:avLst/>
          </a:prstGeom>
          <a:solidFill>
            <a:srgbClr val="F5C6B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14" name="TextBox 13"/>
          <p:cNvSpPr txBox="1"/>
          <p:nvPr/>
        </p:nvSpPr>
        <p:spPr>
          <a:xfrm>
            <a:off x="1280160" y="4251959"/>
            <a:ext cx="9784080" cy="658368"/>
          </a:xfrm>
          <a:prstGeom prst="rect">
            <a:avLst/>
          </a:prstGeom>
          <a:noFill/>
        </p:spPr>
        <p:txBody>
          <a:bodyPr wrap="square">
            <a:spAutoFit/>
          </a:bodyPr>
          <a:lstStyle/>
          <a:p>
            <a:pPr algn="l">
              <a:lnSpc>
                <a:spcPct val="115000"/>
              </a:lnSpc>
            </a:pPr>
            <a:r>
              <a:rPr sz="1550" b="0" i="0">
                <a:solidFill>
                  <a:srgbClr val="1A1A1A"/>
                </a:solidFill>
                <a:latin typeface="Arial"/>
              </a:rPr>
              <a:t>A Legal-BERT variant, pretrained on legal text specifically, is a natural next embedding to try</a:t>
            </a:r>
          </a:p>
        </p:txBody>
      </p:sp>
      <p:sp>
        <p:nvSpPr>
          <p:cNvPr id="15" name="Oval 14"/>
          <p:cNvSpPr/>
          <p:nvPr/>
        </p:nvSpPr>
        <p:spPr>
          <a:xfrm>
            <a:off x="88084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9912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741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3570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399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228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9056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8857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714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45433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3721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82009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002975" y="6473952"/>
            <a:ext cx="82296" cy="82296"/>
          </a:xfrm>
          <a:prstGeom prst="ellipse">
            <a:avLst/>
          </a:prstGeom>
          <a:solidFill>
            <a:srgbClr val="2A5C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185855" y="6473952"/>
            <a:ext cx="82296" cy="82296"/>
          </a:xfrm>
          <a:prstGeom prst="ellipse">
            <a:avLst/>
          </a:prstGeom>
          <a:solidFill>
            <a:srgbClr val="DD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A7179"/>
                </a:solidFill>
                <a:latin typeface="Arial"/>
              </a:rPr>
              <a:t>13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058400" cy="365760"/>
          </a:xfrm>
          <a:prstGeom prst="rect">
            <a:avLst/>
          </a:prstGeom>
          <a:noFill/>
        </p:spPr>
        <p:txBody>
          <a:bodyPr wrap="square">
            <a:spAutoFit/>
          </a:bodyPr>
          <a:lstStyle/>
          <a:p>
            <a:pPr algn="l">
              <a:lnSpc>
                <a:spcPct val="110000"/>
              </a:lnSpc>
            </a:pPr>
            <a:r>
              <a:rPr sz="1300" b="1" i="0">
                <a:solidFill>
                  <a:srgbClr val="8FB4FF"/>
                </a:solidFill>
                <a:latin typeface="Arial"/>
              </a:rPr>
              <a:t>CONCLUSIONS</a:t>
            </a:r>
          </a:p>
        </p:txBody>
      </p:sp>
      <p:sp>
        <p:nvSpPr>
          <p:cNvPr id="4" name="Oval 3"/>
          <p:cNvSpPr/>
          <p:nvPr/>
        </p:nvSpPr>
        <p:spPr>
          <a:xfrm>
            <a:off x="822960" y="1371600"/>
            <a:ext cx="292608" cy="292608"/>
          </a:xfrm>
          <a:prstGeom prst="ellipse">
            <a:avLst/>
          </a:prstGeom>
          <a:solidFill>
            <a:srgbClr val="8FB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5" name="TextBox 4"/>
          <p:cNvSpPr txBox="1"/>
          <p:nvPr/>
        </p:nvSpPr>
        <p:spPr>
          <a:xfrm>
            <a:off x="1280160" y="1344168"/>
            <a:ext cx="9784080" cy="512064"/>
          </a:xfrm>
          <a:prstGeom prst="rect">
            <a:avLst/>
          </a:prstGeom>
          <a:noFill/>
        </p:spPr>
        <p:txBody>
          <a:bodyPr wrap="square">
            <a:spAutoFit/>
          </a:bodyPr>
          <a:lstStyle/>
          <a:p>
            <a:pPr algn="l">
              <a:lnSpc>
                <a:spcPct val="115000"/>
              </a:lnSpc>
            </a:pPr>
            <a:r>
              <a:rPr sz="1700" b="0" i="0">
                <a:solidFill>
                  <a:srgbClr val="E3E9F5"/>
                </a:solidFill>
                <a:latin typeface="Arial"/>
              </a:rPr>
              <a:t>Pretrained embeddings (SBERT) beat from-scratch ones (Doc2Vec) at every comparison point</a:t>
            </a:r>
          </a:p>
        </p:txBody>
      </p:sp>
      <p:sp>
        <p:nvSpPr>
          <p:cNvPr id="6" name="Oval 5"/>
          <p:cNvSpPr/>
          <p:nvPr/>
        </p:nvSpPr>
        <p:spPr>
          <a:xfrm>
            <a:off x="822960" y="1883664"/>
            <a:ext cx="292608" cy="292608"/>
          </a:xfrm>
          <a:prstGeom prst="ellipse">
            <a:avLst/>
          </a:prstGeom>
          <a:solidFill>
            <a:srgbClr val="8FB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7" name="TextBox 6"/>
          <p:cNvSpPr txBox="1"/>
          <p:nvPr/>
        </p:nvSpPr>
        <p:spPr>
          <a:xfrm>
            <a:off x="1280160" y="1856232"/>
            <a:ext cx="9784080" cy="512064"/>
          </a:xfrm>
          <a:prstGeom prst="rect">
            <a:avLst/>
          </a:prstGeom>
          <a:noFill/>
        </p:spPr>
        <p:txBody>
          <a:bodyPr wrap="square">
            <a:spAutoFit/>
          </a:bodyPr>
          <a:lstStyle/>
          <a:p>
            <a:pPr algn="l">
              <a:lnSpc>
                <a:spcPct val="115000"/>
              </a:lnSpc>
            </a:pPr>
            <a:r>
              <a:rPr sz="1700" b="0" i="0">
                <a:solidFill>
                  <a:srgbClr val="E3E9F5"/>
                </a:solidFill>
                <a:latin typeface="Arial"/>
              </a:rPr>
              <a:t>Classifier choice matters almost as much as features — SVM beat every other classifier tried</a:t>
            </a:r>
          </a:p>
        </p:txBody>
      </p:sp>
      <p:sp>
        <p:nvSpPr>
          <p:cNvPr id="8" name="Oval 7"/>
          <p:cNvSpPr/>
          <p:nvPr/>
        </p:nvSpPr>
        <p:spPr>
          <a:xfrm>
            <a:off x="822960" y="2395728"/>
            <a:ext cx="292608" cy="292608"/>
          </a:xfrm>
          <a:prstGeom prst="ellipse">
            <a:avLst/>
          </a:prstGeom>
          <a:solidFill>
            <a:srgbClr val="8FB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9" name="TextBox 8"/>
          <p:cNvSpPr txBox="1"/>
          <p:nvPr/>
        </p:nvSpPr>
        <p:spPr>
          <a:xfrm>
            <a:off x="1280160" y="2368296"/>
            <a:ext cx="9784080" cy="512064"/>
          </a:xfrm>
          <a:prstGeom prst="rect">
            <a:avLst/>
          </a:prstGeom>
          <a:noFill/>
        </p:spPr>
        <p:txBody>
          <a:bodyPr wrap="square">
            <a:spAutoFit/>
          </a:bodyPr>
          <a:lstStyle/>
          <a:p>
            <a:pPr algn="l">
              <a:lnSpc>
                <a:spcPct val="115000"/>
              </a:lnSpc>
            </a:pPr>
            <a:r>
              <a:rPr sz="1700" b="0" i="0">
                <a:solidFill>
                  <a:srgbClr val="E3E9F5"/>
                </a:solidFill>
                <a:latin typeface="Arial"/>
              </a:rPr>
              <a:t>Tuning helped every phase — though Phase 4 traded flat accuracy for a macro-F1 win</a:t>
            </a:r>
          </a:p>
        </p:txBody>
      </p:sp>
      <p:sp>
        <p:nvSpPr>
          <p:cNvPr id="10" name="Oval 9"/>
          <p:cNvSpPr/>
          <p:nvPr/>
        </p:nvSpPr>
        <p:spPr>
          <a:xfrm>
            <a:off x="822960" y="2907792"/>
            <a:ext cx="292608" cy="292608"/>
          </a:xfrm>
          <a:prstGeom prst="ellipse">
            <a:avLst/>
          </a:prstGeom>
          <a:solidFill>
            <a:srgbClr val="8FB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11" name="TextBox 10"/>
          <p:cNvSpPr txBox="1"/>
          <p:nvPr/>
        </p:nvSpPr>
        <p:spPr>
          <a:xfrm>
            <a:off x="1280160" y="2880360"/>
            <a:ext cx="9784080" cy="512064"/>
          </a:xfrm>
          <a:prstGeom prst="rect">
            <a:avLst/>
          </a:prstGeom>
          <a:noFill/>
        </p:spPr>
        <p:txBody>
          <a:bodyPr wrap="square">
            <a:spAutoFit/>
          </a:bodyPr>
          <a:lstStyle/>
          <a:p>
            <a:pPr algn="l">
              <a:lnSpc>
                <a:spcPct val="115000"/>
              </a:lnSpc>
            </a:pPr>
            <a:r>
              <a:rPr sz="1700" b="0" i="0">
                <a:solidFill>
                  <a:srgbClr val="E3E9F5"/>
                </a:solidFill>
                <a:latin typeface="Arial"/>
              </a:rPr>
              <a:t>Coarse categories beat fine-grained ones everywhere — a data problem, not a model problem</a:t>
            </a:r>
          </a:p>
        </p:txBody>
      </p:sp>
      <p:sp>
        <p:nvSpPr>
          <p:cNvPr id="12" name="Oval 11"/>
          <p:cNvSpPr/>
          <p:nvPr/>
        </p:nvSpPr>
        <p:spPr>
          <a:xfrm>
            <a:off x="822960" y="3419856"/>
            <a:ext cx="292608" cy="292608"/>
          </a:xfrm>
          <a:prstGeom prst="ellipse">
            <a:avLst/>
          </a:prstGeom>
          <a:solidFill>
            <a:srgbClr val="8FB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13" name="TextBox 12"/>
          <p:cNvSpPr txBox="1"/>
          <p:nvPr/>
        </p:nvSpPr>
        <p:spPr>
          <a:xfrm>
            <a:off x="1280160" y="3392424"/>
            <a:ext cx="9784080" cy="512064"/>
          </a:xfrm>
          <a:prstGeom prst="rect">
            <a:avLst/>
          </a:prstGeom>
          <a:noFill/>
        </p:spPr>
        <p:txBody>
          <a:bodyPr wrap="square">
            <a:spAutoFit/>
          </a:bodyPr>
          <a:lstStyle/>
          <a:p>
            <a:pPr algn="l">
              <a:lnSpc>
                <a:spcPct val="115000"/>
              </a:lnSpc>
            </a:pPr>
            <a:r>
              <a:rPr sz="1700" b="0" i="0">
                <a:solidFill>
                  <a:srgbClr val="E3E9F5"/>
                </a:solidFill>
                <a:latin typeface="Arial"/>
              </a:rPr>
              <a:t>Overall: 59.1% → 70.1% across 5 phases, without touching the dataset</a:t>
            </a:r>
          </a:p>
        </p:txBody>
      </p:sp>
      <p:sp>
        <p:nvSpPr>
          <p:cNvPr id="14" name="Oval 13"/>
          <p:cNvSpPr/>
          <p:nvPr/>
        </p:nvSpPr>
        <p:spPr>
          <a:xfrm>
            <a:off x="822960" y="3931920"/>
            <a:ext cx="292608" cy="292608"/>
          </a:xfrm>
          <a:prstGeom prst="ellipse">
            <a:avLst/>
          </a:prstGeom>
          <a:solidFill>
            <a:srgbClr val="8FB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142340"/>
                </a:solidFill>
                <a:latin typeface="Arial"/>
              </a:rPr>
              <a:t>✓</a:t>
            </a:r>
          </a:p>
        </p:txBody>
      </p:sp>
      <p:sp>
        <p:nvSpPr>
          <p:cNvPr id="15" name="TextBox 14"/>
          <p:cNvSpPr txBox="1"/>
          <p:nvPr/>
        </p:nvSpPr>
        <p:spPr>
          <a:xfrm>
            <a:off x="1280160" y="3904488"/>
            <a:ext cx="9784080" cy="512064"/>
          </a:xfrm>
          <a:prstGeom prst="rect">
            <a:avLst/>
          </a:prstGeom>
          <a:noFill/>
        </p:spPr>
        <p:txBody>
          <a:bodyPr wrap="square">
            <a:spAutoFit/>
          </a:bodyPr>
          <a:lstStyle/>
          <a:p>
            <a:pPr algn="l">
              <a:lnSpc>
                <a:spcPct val="115000"/>
              </a:lnSpc>
            </a:pPr>
            <a:r>
              <a:rPr sz="1700" b="0" i="0">
                <a:solidFill>
                  <a:srgbClr val="E3E9F5"/>
                </a:solidFill>
                <a:latin typeface="Arial"/>
              </a:rPr>
              <a:t>Our numbers land in the same range and order as the original paper's</a:t>
            </a:r>
          </a:p>
        </p:txBody>
      </p:sp>
      <p:sp>
        <p:nvSpPr>
          <p:cNvPr id="16" name="TextBox 15"/>
          <p:cNvSpPr txBox="1"/>
          <p:nvPr/>
        </p:nvSpPr>
        <p:spPr>
          <a:xfrm>
            <a:off x="822960" y="5989320"/>
            <a:ext cx="6400800" cy="320040"/>
          </a:xfrm>
          <a:prstGeom prst="rect">
            <a:avLst/>
          </a:prstGeom>
          <a:noFill/>
        </p:spPr>
        <p:txBody>
          <a:bodyPr wrap="square">
            <a:spAutoFit/>
          </a:bodyPr>
          <a:lstStyle/>
          <a:p>
            <a:pPr algn="l">
              <a:lnSpc>
                <a:spcPct val="110000"/>
              </a:lnSpc>
            </a:pPr>
            <a:r>
              <a:rPr sz="1300" b="0" i="0">
                <a:solidFill>
                  <a:srgbClr val="8FB4FF"/>
                </a:solidFill>
                <a:latin typeface="Arial"/>
              </a:rPr>
              <a:t>github.com/amogh-herle/ML-MINI-PROJECT</a:t>
            </a:r>
          </a:p>
        </p:txBody>
      </p:sp>
      <p:sp>
        <p:nvSpPr>
          <p:cNvPr id="17" name="Oval 16"/>
          <p:cNvSpPr/>
          <p:nvPr/>
        </p:nvSpPr>
        <p:spPr>
          <a:xfrm>
            <a:off x="8808415" y="6473952"/>
            <a:ext cx="82296" cy="82296"/>
          </a:xfrm>
          <a:prstGeom prst="ellipse">
            <a:avLst/>
          </a:prstGeom>
          <a:solidFill>
            <a:srgbClr val="2A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991295" y="6473952"/>
            <a:ext cx="82296" cy="82296"/>
          </a:xfrm>
          <a:prstGeom prst="ellipse">
            <a:avLst/>
          </a:prstGeom>
          <a:solidFill>
            <a:srgbClr val="2A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74175" y="6473952"/>
            <a:ext cx="82296" cy="82296"/>
          </a:xfrm>
          <a:prstGeom prst="ellipse">
            <a:avLst/>
          </a:prstGeom>
          <a:solidFill>
            <a:srgbClr val="2A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357055" y="6473952"/>
            <a:ext cx="82296" cy="82296"/>
          </a:xfrm>
          <a:prstGeom prst="ellipse">
            <a:avLst/>
          </a:prstGeom>
          <a:solidFill>
            <a:srgbClr val="2A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539935" y="6473952"/>
            <a:ext cx="82296" cy="82296"/>
          </a:xfrm>
          <a:prstGeom prst="ellipse">
            <a:avLst/>
          </a:prstGeom>
          <a:solidFill>
            <a:srgbClr val="2A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722815" y="6473952"/>
            <a:ext cx="82296" cy="82296"/>
          </a:xfrm>
          <a:prstGeom prst="ellipse">
            <a:avLst/>
          </a:prstGeom>
          <a:solidFill>
            <a:srgbClr val="2A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905695" y="6473952"/>
            <a:ext cx="82296" cy="82296"/>
          </a:xfrm>
          <a:prstGeom prst="ellipse">
            <a:avLst/>
          </a:prstGeom>
          <a:solidFill>
            <a:srgbClr val="2A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88575" y="6473952"/>
            <a:ext cx="82296" cy="82296"/>
          </a:xfrm>
          <a:prstGeom prst="ellipse">
            <a:avLst/>
          </a:prstGeom>
          <a:solidFill>
            <a:srgbClr val="2A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271455" y="6473952"/>
            <a:ext cx="82296" cy="82296"/>
          </a:xfrm>
          <a:prstGeom prst="ellipse">
            <a:avLst/>
          </a:prstGeom>
          <a:solidFill>
            <a:srgbClr val="2A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454335" y="6473952"/>
            <a:ext cx="82296" cy="82296"/>
          </a:xfrm>
          <a:prstGeom prst="ellipse">
            <a:avLst/>
          </a:prstGeom>
          <a:solidFill>
            <a:srgbClr val="2A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637215" y="6473952"/>
            <a:ext cx="82296" cy="82296"/>
          </a:xfrm>
          <a:prstGeom prst="ellipse">
            <a:avLst/>
          </a:prstGeom>
          <a:solidFill>
            <a:srgbClr val="2A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820095" y="6473952"/>
            <a:ext cx="82296" cy="82296"/>
          </a:xfrm>
          <a:prstGeom prst="ellipse">
            <a:avLst/>
          </a:prstGeom>
          <a:solidFill>
            <a:srgbClr val="2A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002975" y="6473952"/>
            <a:ext cx="82296" cy="82296"/>
          </a:xfrm>
          <a:prstGeom prst="ellipse">
            <a:avLst/>
          </a:prstGeom>
          <a:solidFill>
            <a:srgbClr val="2A3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185855" y="6473952"/>
            <a:ext cx="82296" cy="82296"/>
          </a:xfrm>
          <a:prstGeom prst="ellipse">
            <a:avLst/>
          </a:prstGeom>
          <a:solidFill>
            <a:srgbClr val="8F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6355080"/>
            <a:ext cx="1828800" cy="365760"/>
          </a:xfrm>
          <a:prstGeom prst="rect">
            <a:avLst/>
          </a:prstGeom>
          <a:noFill/>
        </p:spPr>
        <p:txBody>
          <a:bodyPr wrap="square">
            <a:spAutoFit/>
          </a:bodyPr>
          <a:lstStyle/>
          <a:p>
            <a:pPr algn="l">
              <a:lnSpc>
                <a:spcPct val="110000"/>
              </a:lnSpc>
            </a:pPr>
            <a:r>
              <a:rPr sz="1100" b="0" i="0">
                <a:solidFill>
                  <a:srgbClr val="6E85AD"/>
                </a:solidFill>
                <a:latin typeface="Arial"/>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