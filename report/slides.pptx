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8FB4FF"/>
                </a:solidFill>
                <a:latin typeface="Arial"/>
              </a:rPr>
              <a:t>UE24CS352A — MACHINE LEARNING MINI-PROJECT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0392" y="137160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BFBF8"/>
                </a:solidFill>
                <a:latin typeface="Arial"/>
              </a:rPr>
              <a:t>Classification of Legal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7D4EA"/>
                </a:solidFill>
                <a:latin typeface="Arial"/>
              </a:rPr>
              <a:t>Replicating &amp; tuning a Stanford CS229 NLP project — teaching a classifier to read U.S. Supreme Court opinions and guess their legal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502920"/>
            <a:ext cx="1371600" cy="1371600"/>
          </a:xfrm>
          <a:prstGeom prst="ellipse">
            <a:avLst/>
          </a:prstGeom>
          <a:solidFill>
            <a:srgbClr val="1C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8FB4FF"/>
                </a:solidFill>
                <a:latin typeface="Arial"/>
              </a:rPr>
              <a:t>68.8%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6E85AD"/>
                </a:solidFill>
                <a:latin typeface="Arial"/>
              </a:rPr>
              <a:t>best 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Based on: Krithika Iyer, "Classification of Legal Text" (CS229, 2020)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Can a simple model guess a court ruling's legal category?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Legal opinions use long, non-standard sentence structures that break typical NLP tooling. We classify U.S. Supreme Court opinions into their human-curated legal category — at two levels of detail.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063240"/>
            <a:ext cx="49377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Broad categories (issue_area) — e.g. Criminal Procedure, Civil Rights, First Amendment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3191256"/>
            <a:ext cx="73152" cy="157276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3063240"/>
            <a:ext cx="49377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260+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Fine-grained issue codes (issue) — much harder, far less data per category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3328" y="3191256"/>
            <a:ext cx="73152" cy="157276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Real Supreme Court opinions — no substitute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Same source the original paper used: the Supreme Court Database via the textacy package. Still downloadable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918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8,419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opinions, 1946-2016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2423160"/>
            <a:ext cx="32918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7,971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after filtering rare classes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0" y="2423160"/>
            <a:ext cx="347472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70/15/15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train / dev / test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7" y="2551176"/>
            <a:ext cx="73152" cy="1207008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A7179"/>
                </a:solidFill>
                <a:latin typeface="Arial"/>
              </a:rPr>
              <a:t>Opinions run long (median ~34,000 characters) — each truncated to its first 4,000 characters so training stays fast, keeping the part where judges usually state the issue and holding.</a:t>
            </a:r>
          </a:p>
        </p:txBody>
      </p:sp>
      <p:sp>
        <p:nvSpPr>
          <p:cNvPr id="13" name="Oval 12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ways to featurize legal text, one classifier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02920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LDA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Finds abstract recurring topics across all rulings (gensim, TF-IDF). Each ruling becomes a mix-of-topics score. A classifier maps topic mix → category.
Tuned: 100 topics (vs. 50 default)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1956816"/>
            <a:ext cx="73152" cy="2761487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BFBF8"/>
                </a:solidFill>
                <a:latin typeface="Arial"/>
              </a:rPr>
              <a:t>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828800"/>
            <a:ext cx="5120640" cy="30175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1" rIns="256032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Doc2Vec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Learns a dense numeric “fingerprint” per ruling by predicting words in context (gensim Doc2Vec). Same classifier maps fingerprint → category.
Tuned: 50-dim vectors (vs. 100 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956816"/>
            <a:ext cx="73152" cy="2761487"/>
          </a:xfrm>
          <a:prstGeom prst="roundRect">
            <a:avLst>
              <a:gd name="adj" fmla="val 50000"/>
            </a:avLst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0" y="1828800"/>
            <a:ext cx="457200" cy="457200"/>
          </a:xfrm>
          <a:prstGeom prst="ellipse">
            <a:avLst/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BFBF8"/>
                </a:solidFill>
                <a:latin typeface="Arial"/>
              </a:rPr>
              <a:t>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A third method (BERT) was in the original paper, but it ran out of memory there — no baseline to replicate.</a:t>
            </a:r>
          </a:p>
        </p:txBody>
      </p:sp>
      <p:sp>
        <p:nvSpPr>
          <p:cNvPr id="12" name="Oval 11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1 —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Paper's default settings, our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96012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Doc2Vec beats LDA on both tasks. The coarser 15-category task is much easier than the 260+-category task — matches the original paper's pattern.</a:t>
            </a:r>
          </a:p>
        </p:txBody>
      </p:sp>
      <p:pic>
        <p:nvPicPr>
          <p:cNvPr id="7" name="Picture 6" descr="phase1_te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212080" cy="28956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2 —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Dev-only tuning, test touched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+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42.0%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LDA needed more topics (50→100) to separate 15+ categories. Doc2Vec preferred a smaller fingerprint (100→50) — with only ~5,600 training rulings, bigger vectors just overfit.</a:t>
            </a:r>
          </a:p>
        </p:txBody>
      </p:sp>
      <p:pic>
        <p:nvPicPr>
          <p:cNvPr id="7" name="Picture 6" descr="before_aft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663440" cy="2590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3 — BEYOND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Same features, different classifier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The paper only tries Logistic Regression. We also tried SVM, Random Forest, and Gaussian Naive Bayes — same Doc2Vec fingerprints, issue_area task.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SVM (RBF)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Gaussian Naive Bayes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5262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SVM (RBF, C=1.0), Random Forest (200 trees) and Naive Bayes use defaults, untuned; LR (C=1.0) is the tuned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SVM wins — its RBF kernel draws a curved decision boundary through the embedding space that straight-line Logistic Regression can't match.</a:t>
            </a:r>
          </a:p>
        </p:txBody>
      </p:sp>
      <p:pic>
        <p:nvPicPr>
          <p:cNvPr id="9" name="Picture 8" descr="classifi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94960" cy="296722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PHASE 4 — DEEPER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A1A1A"/>
                </a:solidFill>
                <a:latin typeface="Arial"/>
              </a:rPr>
              <a:t>What tuning really did to accuracy — the full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A5568"/>
                </a:solidFill>
                <a:latin typeface="Arial"/>
              </a:rPr>
              <a:t>SVM, Random Forest and Naive Bayes from Phase 3 were still untuned. We grid-searched kernels, tree depth and smoothing — selected on dev macro-F1, not accuracy. All 14 feature × task × classifier combinations, in full: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74519"/>
          <a:ext cx="99669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43000"/>
                <a:gridCol w="1417320"/>
                <a:gridCol w="1371600"/>
                <a:gridCol w="1371600"/>
                <a:gridCol w="1371600"/>
                <a:gridCol w="1371600"/>
              </a:tblGrid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Acc 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Acc 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F1 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BFBF8"/>
                          </a:solidFill>
                          <a:latin typeface="Arial"/>
                        </a:rPr>
                        <a:t>F1 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43.1%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40.1%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34.0%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33.9%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0.173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0.170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40.3%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18.5%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25.6%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0.080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0.180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21.1%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23.2%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20.8%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0.075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(Multinomial)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7.5%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63.3%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0.512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doc2vec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60.2%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51.4%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46.1%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46.6%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0.251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24993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Naive Bayes (Gaussian)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13.1%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40.4%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0.137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7A3D"/>
                          </a:solidFill>
                          <a:latin typeface="Arial"/>
                        </a:rPr>
                        <a:t>0.294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249949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Naive Bayes (Multinomial)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lda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33.5%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0.076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76072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4A5568"/>
                </a:solidFill>
                <a:latin typeface="Arial"/>
              </a:rPr>
              <a:t>SVM's accuracy actually dropped (68.8% → 63.3%) even though its F1 rose — tuning for macro-F1 traded raw accuracy for fairness across categories. Gaussian NB on LDA/issue_area is the one case where both rose sharply (13.1% → 40.4% accuracy).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LDA guesses the majority class. Doc2Vec doesn't.</a:t>
            </a:r>
          </a:p>
        </p:txBody>
      </p:sp>
      <p:pic>
        <p:nvPicPr>
          <p:cNvPr id="5" name="Picture 4" descr="per_category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1600200"/>
            <a:ext cx="822960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88720" y="5870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LDA — collapses on rare categories (near-0 F1 on Privacy, Attorneys)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87044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Doc2Vec — far more balanced across all 13 categories</a:t>
            </a:r>
          </a:p>
        </p:txBody>
      </p:sp>
      <p:sp>
        <p:nvSpPr>
          <p:cNvPr id="10" name="Oval 9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A5CAA"/>
                </a:solidFill>
                <a:latin typeface="Arial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Each phase pushed the best model further</a:t>
            </a:r>
          </a:p>
        </p:txBody>
      </p:sp>
      <p:pic>
        <p:nvPicPr>
          <p:cNvPr id="5" name="Picture 4" descr="progress_by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486400" cy="37719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675120" y="2377440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350008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1: Doc2Vec + Logistic Regression, paper's default settings — 59.1%</a:t>
            </a:r>
          </a:p>
        </p:txBody>
      </p:sp>
      <p:sp>
        <p:nvSpPr>
          <p:cNvPr id="8" name="Oval 7"/>
          <p:cNvSpPr/>
          <p:nvPr/>
        </p:nvSpPr>
        <p:spPr>
          <a:xfrm>
            <a:off x="6675120" y="2944368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916936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2: tuned vector_size (100→50) and C on dev only — 62.2%</a:t>
            </a:r>
          </a:p>
        </p:txBody>
      </p:sp>
      <p:sp>
        <p:nvSpPr>
          <p:cNvPr id="10" name="Oval 9"/>
          <p:cNvSpPr/>
          <p:nvPr/>
        </p:nvSpPr>
        <p:spPr>
          <a:xfrm>
            <a:off x="6675120" y="3511296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483864"/>
            <a:ext cx="4206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3: swapped in SVM (RBF kernel) on the same features — 68.8%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8463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4A5568"/>
                </a:solidFill>
                <a:latin typeface="Arial"/>
              </a:rPr>
              <a:t>Nearly 10 points of accuracy gained beyond the paper's own result, without touching the dataset.</a:t>
            </a:r>
          </a:p>
        </p:txBody>
      </p:sp>
      <p:sp>
        <p:nvSpPr>
          <p:cNvPr id="13" name="Oval 12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DD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8FB4FF"/>
                </a:solidFill>
                <a:latin typeface="Arial"/>
              </a:rPr>
              <a:t>CONCLUSIONS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28016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252728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Doc2Vec embeddings consistently beat LDA topic features on this task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7393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46504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Coarse 15-category task is much easier than the 260+-category one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267712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40280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Tuning hyperparameters gave real gains in every phase, not just marginal ones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61488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34056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SVM beat every classifier on Doc2Vec issue_area (on LDA ~level with LR: 49.1 vs 48.7%)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255264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27832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Phase 4: wider grids + macro-F1 selection more than doubled Gaussian NB's F1 on LDA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749039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21607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Our numbers land in the same range and order as the original paper's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24281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15383"/>
            <a:ext cx="97840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E3E9F5"/>
                </a:solidFill>
                <a:latin typeface="Arial"/>
              </a:rPr>
              <a:t>BERT not replicated — paper's own attempt ran out of memory, no baseline to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8FB4FF"/>
                </a:solidFill>
                <a:latin typeface="Arial"/>
              </a:rPr>
              <a:t>github.com/amogh-herle/ML-MINI-PROJECT</a:t>
            </a:r>
          </a:p>
        </p:txBody>
      </p:sp>
      <p:sp>
        <p:nvSpPr>
          <p:cNvPr id="19" name="Oval 18"/>
          <p:cNvSpPr/>
          <p:nvPr/>
        </p:nvSpPr>
        <p:spPr>
          <a:xfrm>
            <a:off x="953993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72281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0569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8857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7145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5433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3721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2009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002975" y="6473952"/>
            <a:ext cx="82296" cy="82296"/>
          </a:xfrm>
          <a:prstGeom prst="ellipse">
            <a:avLst/>
          </a:prstGeom>
          <a:solidFill>
            <a:srgbClr val="2A3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185855" y="6473952"/>
            <a:ext cx="82296" cy="82296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E85AD"/>
                </a:solidFill>
                <a:latin typeface="Arial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