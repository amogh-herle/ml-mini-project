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8FB4FF"/>
                </a:solidFill>
                <a:latin typeface="Arial"/>
              </a:rPr>
              <a:t>UE24CS352A — MACHINE LEARNING MINI-PROJECT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50392" y="1371600"/>
            <a:ext cx="1463040" cy="64008"/>
          </a:xfrm>
          <a:prstGeom prst="roundRect">
            <a:avLst>
              <a:gd name="adj" fmla="val 50000"/>
            </a:avLst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FBFBF8"/>
                </a:solidFill>
                <a:latin typeface="Arial"/>
              </a:rPr>
              <a:t>Classification of Legal 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C7D4EA"/>
                </a:solidFill>
                <a:latin typeface="Arial"/>
              </a:rPr>
              <a:t>Replicating &amp; tuning a Stanford CS229 NLP project — teaching a classifier to read U.S. Supreme Court opinions and guess their legal category.</a:t>
            </a:r>
          </a:p>
        </p:txBody>
      </p:sp>
      <p:sp>
        <p:nvSpPr>
          <p:cNvPr id="7" name="Oval 6"/>
          <p:cNvSpPr/>
          <p:nvPr/>
        </p:nvSpPr>
        <p:spPr>
          <a:xfrm>
            <a:off x="10012680" y="502920"/>
            <a:ext cx="1371600" cy="1371600"/>
          </a:xfrm>
          <a:prstGeom prst="ellipse">
            <a:avLst/>
          </a:prstGeom>
          <a:solidFill>
            <a:srgbClr val="1C3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8FB4FF"/>
                </a:solidFill>
                <a:latin typeface="Arial"/>
              </a:rPr>
              <a:t>68.8%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12680" y="1965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6E85AD"/>
                </a:solidFill>
                <a:latin typeface="Arial"/>
              </a:rPr>
              <a:t>best test acc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09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E85AD"/>
                </a:solidFill>
                <a:latin typeface="Arial"/>
              </a:rPr>
              <a:t>Based on: Krithika Iyer, "Classification of Legal Text" (CS229, 2020)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A5CAA"/>
                </a:solidFill>
                <a:latin typeface="Arial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A1A1A"/>
                </a:solidFill>
                <a:latin typeface="Arial"/>
              </a:rPr>
              <a:t>Can a simple model guess a court ruling's legal category?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A5568"/>
                </a:solidFill>
                <a:latin typeface="Arial"/>
              </a:rPr>
              <a:t>Legal opinions use long, non-standard sentence structures that break typical NLP tooling. We classify U.S. Supreme Court opinions into their human-curated legal category — at two levels of detail.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063240"/>
            <a:ext cx="493776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7472" rIns="256032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15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Broad categories (issue_area) — e.g. Criminal Procedure, Civil Rights, First Amendment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2688" y="3191256"/>
            <a:ext cx="73152" cy="1572768"/>
          </a:xfrm>
          <a:prstGeom prst="roundRect">
            <a:avLst>
              <a:gd name="adj" fmla="val 50000"/>
            </a:avLst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0" y="3063240"/>
            <a:ext cx="493776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7471" rIns="256032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260+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Fine-grained issue codes (issue) — much harder, far less data per category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53328" y="3191256"/>
            <a:ext cx="73152" cy="1572768"/>
          </a:xfrm>
          <a:prstGeom prst="roundRect">
            <a:avLst>
              <a:gd name="adj" fmla="val 50000"/>
            </a:avLst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539935" y="6473952"/>
            <a:ext cx="82296" cy="82296"/>
          </a:xfrm>
          <a:prstGeom prst="ellipse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7228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9056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885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2714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4543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6372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8200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0029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1858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A7179"/>
                </a:solidFill>
                <a:latin typeface="Arial"/>
              </a:rPr>
              <a:t>1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A5CAA"/>
                </a:solidFill>
                <a:latin typeface="Arial"/>
              </a:rPr>
              <a:t>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A1A1A"/>
                </a:solidFill>
                <a:latin typeface="Arial"/>
              </a:rPr>
              <a:t>Real Supreme Court opinions — no substitute needed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A5568"/>
                </a:solidFill>
                <a:latin typeface="Arial"/>
              </a:rPr>
              <a:t>Same source the original paper used: the Supreme Court Database via the textacy package. Still downloadable today.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423160"/>
            <a:ext cx="3291840" cy="1463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7472" rIns="256032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8,419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opinions, 1946-2016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2688" y="2551176"/>
            <a:ext cx="73152" cy="1207008"/>
          </a:xfrm>
          <a:prstGeom prst="roundRect">
            <a:avLst>
              <a:gd name="adj" fmla="val 50000"/>
            </a:avLst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43400" y="2423160"/>
            <a:ext cx="3291840" cy="1463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7471" rIns="256032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7,971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after filtering rare classes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53128" y="2551176"/>
            <a:ext cx="73152" cy="1207008"/>
          </a:xfrm>
          <a:prstGeom prst="roundRect">
            <a:avLst>
              <a:gd name="adj" fmla="val 50000"/>
            </a:avLst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863840" y="2423160"/>
            <a:ext cx="3474720" cy="1463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7472" rIns="256032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70/15/15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train / dev / test split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73567" y="2551176"/>
            <a:ext cx="73152" cy="1207008"/>
          </a:xfrm>
          <a:prstGeom prst="roundRect">
            <a:avLst>
              <a:gd name="adj" fmla="val 50000"/>
            </a:avLst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2062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6A7179"/>
                </a:solidFill>
                <a:latin typeface="Arial"/>
              </a:rPr>
              <a:t>Opinions run long (median ~34,000 characters) — each truncated to its first 4,000 characters so training stays fast, keeping the part where judges usually state the issue and holding.</a:t>
            </a:r>
          </a:p>
        </p:txBody>
      </p:sp>
      <p:sp>
        <p:nvSpPr>
          <p:cNvPr id="13" name="Oval 12"/>
          <p:cNvSpPr/>
          <p:nvPr/>
        </p:nvSpPr>
        <p:spPr>
          <a:xfrm>
            <a:off x="95399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722815" y="6473952"/>
            <a:ext cx="82296" cy="82296"/>
          </a:xfrm>
          <a:prstGeom prst="ellipse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056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885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2714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4543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372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200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0029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1858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A7179"/>
                </a:solidFill>
                <a:latin typeface="Arial"/>
              </a:rPr>
              <a:t>2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A5CAA"/>
                </a:solidFill>
                <a:latin typeface="Arial"/>
              </a:rP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A1A1A"/>
                </a:solidFill>
                <a:latin typeface="Arial"/>
              </a:rPr>
              <a:t>Two ways to featurize legal text, one classifier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5029200" cy="30175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7472" rIns="256032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LDA + Logistic Regression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Finds abstract recurring topics across all rulings (gensim, TF-IDF). Each ruling becomes a mix-of-topics score. A classifier maps topic mix → category.
Tuned: 100 topics (vs. 50 default)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2688" y="1956816"/>
            <a:ext cx="73152" cy="2761487"/>
          </a:xfrm>
          <a:prstGeom prst="roundRect">
            <a:avLst>
              <a:gd name="adj" fmla="val 50000"/>
            </a:avLst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BFBF8"/>
                </a:solidFill>
                <a:latin typeface="Arial"/>
              </a:rPr>
              <a:t>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828800"/>
            <a:ext cx="5120640" cy="30175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7471" rIns="256032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Doc2Vec + Logistic Regression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Learns a dense numeric “fingerprint” per ruling by predicting words in context (gensim Doc2Vec). Same classifier maps fingerprint → category.
Tuned: 50-dim vectors (vs. 100 default)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44768" y="1956816"/>
            <a:ext cx="73152" cy="2761487"/>
          </a:xfrm>
          <a:prstGeom prst="roundRect">
            <a:avLst>
              <a:gd name="adj" fmla="val 50000"/>
            </a:avLst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35040" y="1828800"/>
            <a:ext cx="457200" cy="457200"/>
          </a:xfrm>
          <a:prstGeom prst="ellipse">
            <a:avLst/>
          </a:prstGeom>
          <a:solidFill>
            <a:srgbClr val="1E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BFBF8"/>
                </a:solidFill>
                <a:latin typeface="Arial"/>
              </a:rPr>
              <a:t>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7492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A7179"/>
                </a:solidFill>
                <a:latin typeface="Arial"/>
              </a:rPr>
              <a:t>A third method (BERT) was in the original paper, but it ran out of memory there — no baseline to replicate.</a:t>
            </a:r>
          </a:p>
        </p:txBody>
      </p:sp>
      <p:sp>
        <p:nvSpPr>
          <p:cNvPr id="12" name="Oval 11"/>
          <p:cNvSpPr/>
          <p:nvPr/>
        </p:nvSpPr>
        <p:spPr>
          <a:xfrm>
            <a:off x="95399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7228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905695" y="6473952"/>
            <a:ext cx="82296" cy="82296"/>
          </a:xfrm>
          <a:prstGeom prst="ellipse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0885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2714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4543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372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8200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029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1858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A7179"/>
                </a:solidFill>
                <a:latin typeface="Arial"/>
              </a:rPr>
              <a:t>3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A5CAA"/>
                </a:solidFill>
                <a:latin typeface="Arial"/>
              </a:rPr>
              <a:t>PHASE 1 — REPLICATION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1A1A1A"/>
                </a:solidFill>
                <a:latin typeface="Arial"/>
              </a:rPr>
              <a:t>Paper's default settings, our dataset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600200"/>
          <a:ext cx="50292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463040"/>
                <a:gridCol w="960120"/>
                <a:gridCol w="86868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Test Acc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F1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lda_lr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issue_area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39.3%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0.149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lda_lr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issue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8.3%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0.013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doc2vec_lr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issue_area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59.1%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0.463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doc2vec_lr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issue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37.1%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0.290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16052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5568"/>
                </a:solidFill>
                <a:latin typeface="Arial"/>
              </a:rPr>
              <a:t>Doc2Vec beats LDA on both tasks. The coarser 15-category task is much easier than the 260+-category task — matches the original paper's pattern.</a:t>
            </a:r>
          </a:p>
        </p:txBody>
      </p:sp>
      <p:pic>
        <p:nvPicPr>
          <p:cNvPr id="7" name="Picture 6" descr="phase1_test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00200"/>
            <a:ext cx="5212080" cy="289560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95399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228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9056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088575" y="6473952"/>
            <a:ext cx="82296" cy="82296"/>
          </a:xfrm>
          <a:prstGeom prst="ellipse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714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4543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6372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8200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029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1858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A7179"/>
                </a:solidFill>
                <a:latin typeface="Arial"/>
              </a:rPr>
              <a:t>4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A5CAA"/>
                </a:solidFill>
                <a:latin typeface="Arial"/>
              </a:rPr>
              <a:t>PHASE 2 — HYPERPARAMETER 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1A1A1A"/>
                </a:solidFill>
                <a:latin typeface="Arial"/>
              </a:rPr>
              <a:t>Dev-only tuning, test touched once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005840"/>
                <a:gridCol w="1188720"/>
                <a:gridCol w="118872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Model + Task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Param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Before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After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lda — issue_area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topics=100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39.3%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48.7%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lda — issue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topics=100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8.3%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19.9%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doc2vec — issue_area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dim=50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59.1%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62.2%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doc2vec — issue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dim=50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37.1%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42.0%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160520"/>
            <a:ext cx="5394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5568"/>
                </a:solidFill>
                <a:latin typeface="Arial"/>
              </a:rPr>
              <a:t>LDA needed more topics (50→100) to separate 15+ categories. Doc2Vec preferred a smaller fingerprint (100→50) — with only ~5,600 training rulings, bigger vectors just overfit.</a:t>
            </a:r>
          </a:p>
        </p:txBody>
      </p:sp>
      <p:pic>
        <p:nvPicPr>
          <p:cNvPr id="7" name="Picture 6" descr="before_after_tu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600200"/>
            <a:ext cx="4663440" cy="259080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95399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228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9056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0885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71455" y="6473952"/>
            <a:ext cx="82296" cy="82296"/>
          </a:xfrm>
          <a:prstGeom prst="ellipse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4543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6372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8200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029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1858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A7179"/>
                </a:solidFill>
                <a:latin typeface="Arial"/>
              </a:rPr>
              <a:t>5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A5CAA"/>
                </a:solidFill>
                <a:latin typeface="Arial"/>
              </a:rPr>
              <a:t>PHASE 3 — BEYOND THE PAPER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1A1A1A"/>
                </a:solidFill>
                <a:latin typeface="Arial"/>
              </a:rPr>
              <a:t>Same features, different classifier on 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5568"/>
                </a:solidFill>
                <a:latin typeface="Arial"/>
              </a:rPr>
              <a:t>The paper only tries Logistic Regression. We also tried SVM, Random Forest, and Gaussian Naive Bayes — same Doc2Vec fingerprints, issue_area task.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377440"/>
          <a:ext cx="49377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280160"/>
                <a:gridCol w="128016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Classifier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Test Acc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F1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7A3D"/>
                          </a:solidFill>
                          <a:latin typeface="Arial"/>
                        </a:rPr>
                        <a:t>SVM (RBF)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7A3D"/>
                          </a:solidFill>
                          <a:latin typeface="Arial"/>
                        </a:rPr>
                        <a:t>68.8%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7A3D"/>
                          </a:solidFill>
                          <a:latin typeface="Arial"/>
                        </a:rPr>
                        <a:t>0.499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Logistic Regression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62.2%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0.477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Random Forest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59.6%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0.317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Gaussian Naive Bayes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58.7%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0.462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452628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A7179"/>
                </a:solidFill>
                <a:latin typeface="Arial"/>
              </a:rPr>
              <a:t>SVM (RBF, C=1.0), Random Forest (200 trees) and Naive Bayes use defaults, untuned; LR (C=1.0) is the tuned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12064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5568"/>
                </a:solidFill>
                <a:latin typeface="Arial"/>
              </a:rPr>
              <a:t>SVM wins — its RBF kernel draws a curved decision boundary through the embedding space that straight-line Logistic Regression can't match.</a:t>
            </a:r>
          </a:p>
        </p:txBody>
      </p:sp>
      <p:pic>
        <p:nvPicPr>
          <p:cNvPr id="9" name="Picture 8" descr="classifie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00200"/>
            <a:ext cx="5394960" cy="2967228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5399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7228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9056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885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2714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454335" y="6473952"/>
            <a:ext cx="82296" cy="82296"/>
          </a:xfrm>
          <a:prstGeom prst="ellipse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6372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8200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0029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1858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A7179"/>
                </a:solidFill>
                <a:latin typeface="Arial"/>
              </a:rPr>
              <a:t>6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A5CAA"/>
                </a:solidFill>
                <a:latin typeface="Arial"/>
              </a:rPr>
              <a:t>PHASE 4 — DEEPER 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1A1A1A"/>
                </a:solidFill>
                <a:latin typeface="Arial"/>
              </a:rPr>
              <a:t>A wider search finds a different kind of 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A5568"/>
                </a:solidFill>
                <a:latin typeface="Arial"/>
              </a:rPr>
              <a:t>SVM, Random Forest and Naive Bayes from Phase 3 were still untuned. We grid-searched kernels, tree depth and smoothing — selected on dev macro-F1, not accuracy.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423160"/>
          <a:ext cx="52120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18872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Model · feature/task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F1 Before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F1 After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7A3D"/>
                          </a:solidFill>
                          <a:latin typeface="Arial"/>
                        </a:rPr>
                        <a:t>GaussianNB · lda/issue_area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7A3D"/>
                          </a:solidFill>
                          <a:latin typeface="Arial"/>
                        </a:rPr>
                        <a:t>0.137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7A3D"/>
                          </a:solidFill>
                          <a:latin typeface="Arial"/>
                        </a:rPr>
                        <a:t>0.294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SVM · lda/issue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0.080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0.180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GaussianNB · lda/issue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0.075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0.150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GaussianNB · doc2vec/issue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0.252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0.291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SVM · lda/issue_area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0.266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0.303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4846320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A5568"/>
                </a:solidFill>
                <a:latin typeface="Arial"/>
              </a:rPr>
              <a:t>Gaussian NB's default smoothing was badly miscalibrated for LDA's topic-probability features — one knob (var_smoothing) more than doubled its macro-F1.</a:t>
            </a:r>
          </a:p>
        </p:txBody>
      </p:sp>
      <p:pic>
        <p:nvPicPr>
          <p:cNvPr id="8" name="Picture 7" descr="phase4_tuning_ga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00200"/>
            <a:ext cx="5394960" cy="2967228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95399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7228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056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0885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2714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4543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637215" y="6473952"/>
            <a:ext cx="82296" cy="82296"/>
          </a:xfrm>
          <a:prstGeom prst="ellipse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8200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029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1858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A7179"/>
                </a:solidFill>
                <a:latin typeface="Arial"/>
              </a:rPr>
              <a:t>7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A5CAA"/>
                </a:solidFill>
                <a:latin typeface="Arial"/>
              </a:rPr>
              <a:t>A CLOSER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1A1A1A"/>
                </a:solidFill>
                <a:latin typeface="Arial"/>
              </a:rPr>
              <a:t>LDA guesses the majority class. Doc2Vec doesn't.</a:t>
            </a:r>
          </a:p>
        </p:txBody>
      </p:sp>
      <p:pic>
        <p:nvPicPr>
          <p:cNvPr id="5" name="Picture 4" descr="per_category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248" y="1600200"/>
            <a:ext cx="8229600" cy="4114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188720" y="5870448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5797296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A5568"/>
                </a:solidFill>
                <a:latin typeface="Arial"/>
              </a:rPr>
              <a:t>LDA — collapses on rare categories (near-0 F1 on Privacy, Attorneys)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5870448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1E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5797296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A5568"/>
                </a:solidFill>
                <a:latin typeface="Arial"/>
              </a:rPr>
              <a:t>Doc2Vec — far more balanced across all 13 categories</a:t>
            </a:r>
          </a:p>
        </p:txBody>
      </p:sp>
      <p:sp>
        <p:nvSpPr>
          <p:cNvPr id="10" name="Oval 9"/>
          <p:cNvSpPr/>
          <p:nvPr/>
        </p:nvSpPr>
        <p:spPr>
          <a:xfrm>
            <a:off x="95399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7228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9056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885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2714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4543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6372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820095" y="6473952"/>
            <a:ext cx="82296" cy="82296"/>
          </a:xfrm>
          <a:prstGeom prst="ellipse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0029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1858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A7179"/>
                </a:solidFill>
                <a:latin typeface="Arial"/>
              </a:rPr>
              <a:t>8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A5CAA"/>
                </a:solidFill>
                <a:latin typeface="Arial"/>
              </a:rPr>
              <a:t>PUTTING IT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A1A1A"/>
                </a:solidFill>
                <a:latin typeface="Arial"/>
              </a:rPr>
              <a:t>Each phase pushed the best model further</a:t>
            </a:r>
          </a:p>
        </p:txBody>
      </p:sp>
      <p:pic>
        <p:nvPicPr>
          <p:cNvPr id="5" name="Picture 4" descr="progress_by_ph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28800"/>
            <a:ext cx="5486400" cy="37719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6675120" y="2377440"/>
            <a:ext cx="292608" cy="292608"/>
          </a:xfrm>
          <a:prstGeom prst="ellipse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2350008"/>
            <a:ext cx="4206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A1A1A"/>
                </a:solidFill>
                <a:latin typeface="Arial"/>
              </a:rPr>
              <a:t>Phase 1: Doc2Vec + Logistic Regression, paper's default settings — 59.1%</a:t>
            </a:r>
          </a:p>
        </p:txBody>
      </p:sp>
      <p:sp>
        <p:nvSpPr>
          <p:cNvPr id="8" name="Oval 7"/>
          <p:cNvSpPr/>
          <p:nvPr/>
        </p:nvSpPr>
        <p:spPr>
          <a:xfrm>
            <a:off x="6675120" y="2944368"/>
            <a:ext cx="292608" cy="292608"/>
          </a:xfrm>
          <a:prstGeom prst="ellipse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916936"/>
            <a:ext cx="4206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A1A1A"/>
                </a:solidFill>
                <a:latin typeface="Arial"/>
              </a:rPr>
              <a:t>Phase 2: tuned vector_size (100→50) and C on dev only — 62.2%</a:t>
            </a:r>
          </a:p>
        </p:txBody>
      </p:sp>
      <p:sp>
        <p:nvSpPr>
          <p:cNvPr id="10" name="Oval 9"/>
          <p:cNvSpPr/>
          <p:nvPr/>
        </p:nvSpPr>
        <p:spPr>
          <a:xfrm>
            <a:off x="6675120" y="3511296"/>
            <a:ext cx="292608" cy="292608"/>
          </a:xfrm>
          <a:prstGeom prst="ellipse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483864"/>
            <a:ext cx="4206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A1A1A"/>
                </a:solidFill>
                <a:latin typeface="Arial"/>
              </a:rPr>
              <a:t>Phase 3: swapped in SVM (RBF kernel) on the same features — 68.8%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84632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4A5568"/>
                </a:solidFill>
                <a:latin typeface="Arial"/>
              </a:rPr>
              <a:t>Nearly 10 points of accuracy gained beyond the paper's own result, without touching the dataset.</a:t>
            </a:r>
          </a:p>
        </p:txBody>
      </p:sp>
      <p:sp>
        <p:nvSpPr>
          <p:cNvPr id="13" name="Oval 12"/>
          <p:cNvSpPr/>
          <p:nvPr/>
        </p:nvSpPr>
        <p:spPr>
          <a:xfrm>
            <a:off x="95399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7228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056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885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2714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4543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372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200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002975" y="6473952"/>
            <a:ext cx="82296" cy="82296"/>
          </a:xfrm>
          <a:prstGeom prst="ellipse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1858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A7179"/>
                </a:solidFill>
                <a:latin typeface="Arial"/>
              </a:rPr>
              <a:t>9 /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8FB4FF"/>
                </a:solidFill>
                <a:latin typeface="Arial"/>
              </a:rPr>
              <a:t>CONCLUSIONS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1280160"/>
            <a:ext cx="292608" cy="292608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252728"/>
            <a:ext cx="97840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E3E9F5"/>
                </a:solidFill>
                <a:latin typeface="Arial"/>
              </a:rPr>
              <a:t>Doc2Vec embeddings consistently beat LDA topic features on this task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1773936"/>
            <a:ext cx="292608" cy="292608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746504"/>
            <a:ext cx="97840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E3E9F5"/>
                </a:solidFill>
                <a:latin typeface="Arial"/>
              </a:rPr>
              <a:t>Coarse 15-category task is much easier than the 260+-category one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2267712"/>
            <a:ext cx="292608" cy="292608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240280"/>
            <a:ext cx="97840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E3E9F5"/>
                </a:solidFill>
                <a:latin typeface="Arial"/>
              </a:rPr>
              <a:t>Tuning hyperparameters gave real gains in every phase, not just marginal ones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2761488"/>
            <a:ext cx="292608" cy="292608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734056"/>
            <a:ext cx="97840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E3E9F5"/>
                </a:solidFill>
                <a:latin typeface="Arial"/>
              </a:rPr>
              <a:t>SVM beat every classifier on Doc2Vec issue_area (on LDA ~level with LR: 49.1 vs 48.7%)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3255264"/>
            <a:ext cx="292608" cy="292608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227832"/>
            <a:ext cx="97840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E3E9F5"/>
                </a:solidFill>
                <a:latin typeface="Arial"/>
              </a:rPr>
              <a:t>Phase 4: wider grids + macro-F1 selection more than doubled Gaussian NB's F1 on LDA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3749039"/>
            <a:ext cx="292608" cy="292608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721607"/>
            <a:ext cx="97840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E3E9F5"/>
                </a:solidFill>
                <a:latin typeface="Arial"/>
              </a:rPr>
              <a:t>Our numbers land in the same range and order as the original paper's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" y="4242816"/>
            <a:ext cx="292608" cy="292608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215383"/>
            <a:ext cx="97840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E3E9F5"/>
                </a:solidFill>
                <a:latin typeface="Arial"/>
              </a:rPr>
              <a:t>BERT not replicated — paper's own attempt ran out of memory, no baseline to match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98932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8FB4FF"/>
                </a:solidFill>
                <a:latin typeface="Arial"/>
              </a:rPr>
              <a:t>github.com/amogh-herle/ML-MINI-PROJECT</a:t>
            </a:r>
          </a:p>
        </p:txBody>
      </p:sp>
      <p:sp>
        <p:nvSpPr>
          <p:cNvPr id="19" name="Oval 18"/>
          <p:cNvSpPr/>
          <p:nvPr/>
        </p:nvSpPr>
        <p:spPr>
          <a:xfrm>
            <a:off x="9539935" y="6473952"/>
            <a:ext cx="82296" cy="82296"/>
          </a:xfrm>
          <a:prstGeom prst="ellipse">
            <a:avLst/>
          </a:prstGeom>
          <a:solidFill>
            <a:srgbClr val="2A3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722815" y="6473952"/>
            <a:ext cx="82296" cy="82296"/>
          </a:xfrm>
          <a:prstGeom prst="ellipse">
            <a:avLst/>
          </a:prstGeom>
          <a:solidFill>
            <a:srgbClr val="2A3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05695" y="6473952"/>
            <a:ext cx="82296" cy="82296"/>
          </a:xfrm>
          <a:prstGeom prst="ellipse">
            <a:avLst/>
          </a:prstGeom>
          <a:solidFill>
            <a:srgbClr val="2A3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88575" y="6473952"/>
            <a:ext cx="82296" cy="82296"/>
          </a:xfrm>
          <a:prstGeom prst="ellipse">
            <a:avLst/>
          </a:prstGeom>
          <a:solidFill>
            <a:srgbClr val="2A3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71455" y="6473952"/>
            <a:ext cx="82296" cy="82296"/>
          </a:xfrm>
          <a:prstGeom prst="ellipse">
            <a:avLst/>
          </a:prstGeom>
          <a:solidFill>
            <a:srgbClr val="2A3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454335" y="6473952"/>
            <a:ext cx="82296" cy="82296"/>
          </a:xfrm>
          <a:prstGeom prst="ellipse">
            <a:avLst/>
          </a:prstGeom>
          <a:solidFill>
            <a:srgbClr val="2A3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637215" y="6473952"/>
            <a:ext cx="82296" cy="82296"/>
          </a:xfrm>
          <a:prstGeom prst="ellipse">
            <a:avLst/>
          </a:prstGeom>
          <a:solidFill>
            <a:srgbClr val="2A3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20095" y="6473952"/>
            <a:ext cx="82296" cy="82296"/>
          </a:xfrm>
          <a:prstGeom prst="ellipse">
            <a:avLst/>
          </a:prstGeom>
          <a:solidFill>
            <a:srgbClr val="2A3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002975" y="6473952"/>
            <a:ext cx="82296" cy="82296"/>
          </a:xfrm>
          <a:prstGeom prst="ellipse">
            <a:avLst/>
          </a:prstGeom>
          <a:solidFill>
            <a:srgbClr val="2A3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185855" y="6473952"/>
            <a:ext cx="82296" cy="82296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E85AD"/>
                </a:solidFill>
                <a:latin typeface="Arial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